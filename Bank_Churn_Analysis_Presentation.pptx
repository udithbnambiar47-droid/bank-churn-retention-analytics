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3A5F"/>
                </a:solidFill>
                <a:latin typeface="Arial"/>
              </a:defRPr>
            </a:pPr>
            <a:r>
              <a:rPr sz="1100" b="0" i="0" u="none" strike="noStrike">
                <a:solidFill>
                  <a:srgbClr val="1F3A5F"/>
                </a:solidFill>
                <a:latin typeface="Arial"/>
              </a:rPr>
              <a:t>Churn rate (%)</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5B6770"/>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5B6770"/>
              </a:solidFill>
              <a:effectLst/>
            </c:spPr>
          </c:dPt>
          <c:dPt>
            <c:idx val="1"/>
            <c:invertIfNegative val="0"/>
            <c:bubble3D val="0"/>
            <c:spPr>
              <a:solidFill>
                <a:srgbClr val="F28C28"/>
              </a:solidFill>
              <a:effectLst/>
            </c:spPr>
          </c:dPt>
          <c:cat>
            <c:multiLvlStrRef>
              <c:f>Sheet1!$A$2:$A$3</c:f>
              <c:multiLvlStrCache>
                <c:ptCount val="2"/>
                <c:lvl>
                  <c:pt idx="0">
                    <c:v>Bank average</c:v>
                  </c:pt>
                  <c:pt idx="1">
                    <c:v>High-value inactive</c:v>
                  </c:pt>
                </c:lvl>
              </c:multiLvlStrCache>
            </c:multiLvlStrRef>
          </c:cat>
          <c:val>
            <c:numRef>
              <c:f>Sheet1!$B$2:$B$3</c:f>
              <c:numCache>
                <c:formatCode>General</c:formatCode>
                <c:ptCount val="2"/>
                <c:pt idx="0">
                  <c:v>20.37</c:v>
                </c:pt>
                <c:pt idx="1">
                  <c:v>32.77</c:v>
                </c:pt>
              </c:numCache>
            </c:numRef>
          </c:val>
        </c:ser>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3A5F"/>
                </a:solidFill>
                <a:latin typeface="Arial"/>
              </a:defRPr>
            </a:pPr>
            <a:r>
              <a:rPr sz="1100" b="0" i="0" u="none" strike="noStrike">
                <a:solidFill>
                  <a:srgbClr val="1F3A5F"/>
                </a:solidFill>
                <a:latin typeface="Arial"/>
              </a:rPr>
              <a:t>Customers by status</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14A3A3"/>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Retained</c:v>
                  </c:pt>
                  <c:pt idx="1">
                    <c:v>Churned</c:v>
                  </c:pt>
                </c:lvl>
              </c:multiLvlStrCache>
            </c:multiLvlStrRef>
          </c:cat>
          <c:val>
            <c:numRef>
              <c:f>Sheet1!$B$2:$B$3</c:f>
              <c:numCache>
                <c:formatCode>General</c:formatCode>
                <c:ptCount val="2"/>
                <c:pt idx="0">
                  <c:v>7963</c:v>
                </c:pt>
                <c:pt idx="1">
                  <c:v>2037</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3A5F"/>
                </a:solidFill>
                <a:latin typeface="Arial"/>
              </a:defRPr>
            </a:pPr>
            <a:r>
              <a:rPr sz="1100" b="0" i="0" u="none" strike="noStrike">
                <a:solidFill>
                  <a:srgbClr val="1F3A5F"/>
                </a:solidFill>
                <a:latin typeface="Arial"/>
              </a:rPr>
              <a:t>Customers in segment</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F28C28"/>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Churned</c:v>
                  </c:pt>
                  <c:pt idx="1">
                    <c:v>Retained</c:v>
                  </c:pt>
                </c:lvl>
              </c:multiLvlStrCache>
            </c:multiLvlStrRef>
          </c:cat>
          <c:val>
            <c:numRef>
              <c:f>Sheet1!$B$2:$B$3</c:f>
              <c:numCache>
                <c:formatCode>General</c:formatCode>
                <c:ptCount val="2"/>
                <c:pt idx="0">
                  <c:v>98</c:v>
                </c:pt>
                <c:pt idx="1">
                  <c:v>3</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3A5F"/>
                </a:solidFill>
                <a:latin typeface="Arial"/>
              </a:defRPr>
            </a:pPr>
            <a:r>
              <a:rPr sz="1100" b="0" i="0" u="none" strike="noStrike">
                <a:solidFill>
                  <a:srgbClr val="1F3A5F"/>
                </a:solidFill>
                <a:latin typeface="Arial"/>
              </a:rPr>
              <a:t>Churn rate by credit tier, tenure &lt; 3 yrs (%)</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1F3A5F"/>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Poor</c:v>
                  </c:pt>
                  <c:pt idx="1">
                    <c:v>Fair</c:v>
                  </c:pt>
                  <c:pt idx="2">
                    <c:v>Good</c:v>
                  </c:pt>
                  <c:pt idx="3">
                    <c:v>Very Good</c:v>
                  </c:pt>
                  <c:pt idx="4">
                    <c:v>Excellent</c:v>
                  </c:pt>
                </c:lvl>
              </c:multiLvlStrCache>
            </c:multiLvlStrRef>
          </c:cat>
          <c:val>
            <c:numRef>
              <c:f>Sheet1!$B$2:$B$6</c:f>
              <c:numCache>
                <c:formatCode>General</c:formatCode>
                <c:ptCount val="5"/>
                <c:pt idx="0">
                  <c:v>24.14</c:v>
                </c:pt>
                <c:pt idx="1">
                  <c:v>21.39</c:v>
                </c:pt>
                <c:pt idx="2">
                  <c:v>19.46</c:v>
                </c:pt>
                <c:pt idx="3">
                  <c:v>20.2</c:v>
                </c:pt>
                <c:pt idx="4">
                  <c:v>17.58</c:v>
                </c:pt>
              </c:numCache>
            </c:numRef>
          </c:val>
        </c:ser>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3A5F"/>
                </a:solidFill>
                <a:latin typeface="Arial"/>
              </a:defRPr>
            </a:pPr>
            <a:r>
              <a:rPr sz="1100" b="0" i="0" u="none" strike="noStrike">
                <a:solidFill>
                  <a:srgbClr val="1F3A5F"/>
                </a:solidFill>
                <a:latin typeface="Arial"/>
              </a:rPr>
              <a:t>Average balance ($)</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F28C28"/>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Churned</c:v>
                  </c:pt>
                  <c:pt idx="1">
                    <c:v>Retained</c:v>
                  </c:pt>
                </c:lvl>
              </c:multiLvlStrCache>
            </c:multiLvlStrRef>
          </c:cat>
          <c:val>
            <c:numRef>
              <c:f>Sheet1!$B$2:$B$3</c:f>
              <c:numCache>
                <c:formatCode>General</c:formatCode>
                <c:ptCount val="2"/>
                <c:pt idx="0">
                  <c:v>91109</c:v>
                </c:pt>
                <c:pt idx="1">
                  <c:v>72745</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3A5F"/>
                </a:solidFill>
                <a:latin typeface="Arial"/>
              </a:defRPr>
            </a:pPr>
            <a:r>
              <a:rPr sz="1100" b="0" i="0" u="none" strike="noStrike">
                <a:solidFill>
                  <a:srgbClr val="1F3A5F"/>
                </a:solidFill>
                <a:latin typeface="Arial"/>
              </a:rPr>
              <a:t>Active members (%)</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14A3A3"/>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Has credit card</c:v>
                  </c:pt>
                  <c:pt idx="1">
                    <c:v>No credit card</c:v>
                  </c:pt>
                </c:lvl>
              </c:multiLvlStrCache>
            </c:multiLvlStrRef>
          </c:cat>
          <c:val>
            <c:numRef>
              <c:f>Sheet1!$B$2:$B$3</c:f>
              <c:numCache>
                <c:formatCode>General</c:formatCode>
                <c:ptCount val="2"/>
                <c:pt idx="0">
                  <c:v>51.13</c:v>
                </c:pt>
                <c:pt idx="1">
                  <c:v>52.43</c:v>
                </c:pt>
              </c:numCache>
            </c:numRef>
          </c:val>
        </c:ser>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3A5F"/>
                </a:solidFill>
                <a:latin typeface="Arial"/>
              </a:defRPr>
            </a:pPr>
            <a:r>
              <a:rPr sz="1100" b="0" i="0" u="none" strike="noStrike">
                <a:solidFill>
                  <a:srgbClr val="1F3A5F"/>
                </a:solidFill>
                <a:latin typeface="Arial"/>
              </a:rPr>
              <a:t>Churn rate (%)</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1F3A5F"/>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Zero-balance high earners</c:v>
                  </c:pt>
                  <c:pt idx="1">
                    <c:v>All zero-balance</c:v>
                  </c:pt>
                  <c:pt idx="2">
                    <c:v>Balance above $0</c:v>
                  </c:pt>
                  <c:pt idx="3">
                    <c:v>Overall</c:v>
                  </c:pt>
                </c:lvl>
              </c:multiLvlStrCache>
            </c:multiLvlStrRef>
          </c:cat>
          <c:val>
            <c:numRef>
              <c:f>Sheet1!$B$2:$B$5</c:f>
              <c:numCache>
                <c:formatCode>General</c:formatCode>
                <c:ptCount val="4"/>
                <c:pt idx="0">
                  <c:v>14.37</c:v>
                </c:pt>
                <c:pt idx="1">
                  <c:v>13.82</c:v>
                </c:pt>
                <c:pt idx="2">
                  <c:v>24.08</c:v>
                </c:pt>
                <c:pt idx="3">
                  <c:v>20.37</c:v>
                </c:pt>
              </c:numCache>
            </c:numRef>
          </c:val>
        </c:ser>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3A5F"/>
                </a:solidFill>
                <a:latin typeface="Arial"/>
              </a:defRPr>
            </a:pPr>
            <a:r>
              <a:rPr sz="1100" b="0" i="0" u="none" strike="noStrike">
                <a:solidFill>
                  <a:srgbClr val="1F3A5F"/>
                </a:solidFill>
                <a:latin typeface="Arial"/>
              </a:rPr>
              <a:t>At-risk customers by country</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F28C28"/>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Germany</c:v>
                  </c:pt>
                  <c:pt idx="1">
                    <c:v>France</c:v>
                  </c:pt>
                  <c:pt idx="2">
                    <c:v>Spain</c:v>
                  </c:pt>
                </c:lvl>
              </c:multiLvlStrCache>
            </c:multiLvlStrRef>
          </c:cat>
          <c:val>
            <c:numRef>
              <c:f>Sheet1!$B$2:$B$4</c:f>
              <c:numCache>
                <c:formatCode>General</c:formatCode>
                <c:ptCount val="3"/>
                <c:pt idx="0">
                  <c:v>285</c:v>
                </c:pt>
                <c:pt idx="1">
                  <c:v>192</c:v>
                </c:pt>
                <c:pt idx="2">
                  <c:v>87</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548640" y="1554480"/>
            <a:ext cx="91440" cy="1463040"/>
          </a:xfrm>
          <a:prstGeom prst="rect">
            <a:avLst/>
          </a:prstGeom>
          <a:solidFill>
            <a:srgbClr val="F28C28"/>
          </a:solidFill>
          <a:ln/>
        </p:spPr>
      </p:sp>
      <p:sp>
        <p:nvSpPr>
          <p:cNvPr id="3" name="Text 1"/>
          <p:cNvSpPr txBox="1"/>
          <p:nvPr/>
        </p:nvSpPr>
        <p:spPr>
          <a:xfrm>
            <a:off x="868680" y="1463040"/>
            <a:ext cx="7680960" cy="8229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Bank Customer Churn Analysis</a:t>
            </a:r>
            <a:endParaRPr lang="en-US" sz="3800" dirty="0"/>
          </a:p>
        </p:txBody>
      </p:sp>
      <p:sp>
        <p:nvSpPr>
          <p:cNvPr id="4" name="Text 2"/>
          <p:cNvSpPr txBox="1"/>
          <p:nvPr/>
        </p:nvSpPr>
        <p:spPr>
          <a:xfrm>
            <a:off x="868680" y="2331720"/>
            <a:ext cx="7315200" cy="731520"/>
          </a:xfrm>
          <a:prstGeom prst="rect">
            <a:avLst/>
          </a:prstGeom>
          <a:noFill/>
          <a:ln/>
        </p:spPr>
        <p:txBody>
          <a:bodyPr wrap="square" lIns="0" tIns="0" rIns="0" bIns="0" rtlCol="0" anchor="ctr"/>
          <a:lstStyle/>
          <a:p>
            <a:pPr indent="0" marL="0">
              <a:buNone/>
            </a:pPr>
            <a:r>
              <a:rPr lang="en-US" sz="1800" dirty="0">
                <a:solidFill>
                  <a:srgbClr val="CFE8E8"/>
                </a:solidFill>
                <a:latin typeface="Calibri" pitchFamily="34" charset="0"/>
                <a:ea typeface="Calibri" pitchFamily="34" charset="-122"/>
                <a:cs typeface="Calibri" pitchFamily="34" charset="-120"/>
              </a:rPr>
              <a:t>Answering 10 business questions on 10,000 European bank customers using SQL Server &amp; T-SQL</a:t>
            </a:r>
            <a:endParaRPr lang="en-US" sz="1800" dirty="0"/>
          </a:p>
        </p:txBody>
      </p:sp>
      <p:sp>
        <p:nvSpPr>
          <p:cNvPr id="5" name="Text 3"/>
          <p:cNvSpPr txBox="1"/>
          <p:nvPr/>
        </p:nvSpPr>
        <p:spPr>
          <a:xfrm>
            <a:off x="868680" y="3200400"/>
            <a:ext cx="7315200" cy="64008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Presented by: Udith B</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AnalytiXLabs  |  May 2026 Batch</a:t>
            </a:r>
            <a:endParaRPr lang="en-US" sz="1600" dirty="0"/>
          </a:p>
        </p:txBody>
      </p:sp>
      <p:sp>
        <p:nvSpPr>
          <p:cNvPr id="6" name="Text 4"/>
          <p:cNvSpPr txBox="1"/>
          <p:nvPr/>
        </p:nvSpPr>
        <p:spPr>
          <a:xfrm>
            <a:off x="868680" y="4114800"/>
            <a:ext cx="7315200" cy="274320"/>
          </a:xfrm>
          <a:prstGeom prst="rect">
            <a:avLst/>
          </a:prstGeom>
          <a:noFill/>
          <a:ln/>
        </p:spPr>
        <p:txBody>
          <a:bodyPr wrap="square" lIns="0" tIns="0" rIns="0" bIns="0" rtlCol="0" anchor="ctr"/>
          <a:lstStyle/>
          <a:p>
            <a:pPr indent="0" marL="0">
              <a:buNone/>
            </a:pPr>
            <a:r>
              <a:rPr lang="en-US" sz="1300" dirty="0">
                <a:solidFill>
                  <a:srgbClr val="F28C28"/>
                </a:solidFill>
                <a:latin typeface="Calibri" pitchFamily="34" charset="0"/>
                <a:ea typeface="Calibri" pitchFamily="34" charset="-122"/>
                <a:cs typeface="Calibri" pitchFamily="34" charset="-120"/>
              </a:rPr>
              <a:t>Microsoft SQL Server  |  SSMS 20  |  T-SQL  |  PowerPoint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Business Context, Objective &amp; Problem Statement</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2/15</a:t>
            </a:r>
            <a:endParaRPr lang="en-US" sz="900" dirty="0"/>
          </a:p>
        </p:txBody>
      </p:sp>
      <p:sp>
        <p:nvSpPr>
          <p:cNvPr id="5" name="Text 3"/>
          <p:cNvSpPr txBox="1"/>
          <p:nvPr/>
        </p:nvSpPr>
        <p:spPr>
          <a:xfrm>
            <a:off x="457200" y="914400"/>
            <a:ext cx="3840480" cy="274320"/>
          </a:xfrm>
          <a:prstGeom prst="rect">
            <a:avLst/>
          </a:prstGeom>
          <a:noFill/>
          <a:ln/>
        </p:spPr>
        <p:txBody>
          <a:bodyPr wrap="square" lIns="0" tIns="0" rIns="0" bIns="0" rtlCol="0" anchor="ctr"/>
          <a:lstStyle/>
          <a:p>
            <a:pPr indent="0" marL="0">
              <a:buNone/>
            </a:pPr>
            <a:r>
              <a:rPr lang="en-US" sz="1400" b="1" dirty="0">
                <a:solidFill>
                  <a:srgbClr val="14A3A3"/>
                </a:solidFill>
                <a:latin typeface="Calibri" pitchFamily="34" charset="0"/>
                <a:ea typeface="Calibri" pitchFamily="34" charset="-122"/>
                <a:cs typeface="Calibri" pitchFamily="34" charset="-120"/>
              </a:rPr>
              <a:t>Business Context</a:t>
            </a:r>
            <a:endParaRPr lang="en-US" sz="1400" dirty="0"/>
          </a:p>
        </p:txBody>
      </p:sp>
      <p:sp>
        <p:nvSpPr>
          <p:cNvPr id="6" name="Text 4"/>
          <p:cNvSpPr txBox="1"/>
          <p:nvPr/>
        </p:nvSpPr>
        <p:spPr>
          <a:xfrm>
            <a:off x="457200" y="1234440"/>
            <a:ext cx="3840480" cy="16459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Retail bank in France, Germany and Spain with 10,000 account holders</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Acquiring a customer costs far more than retaining one</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About 1 in 5 customers has already left</a:t>
            </a:r>
            <a:endParaRPr lang="en-US" sz="1250" dirty="0"/>
          </a:p>
        </p:txBody>
      </p:sp>
      <p:sp>
        <p:nvSpPr>
          <p:cNvPr id="7" name="Text 5"/>
          <p:cNvSpPr txBox="1"/>
          <p:nvPr/>
        </p:nvSpPr>
        <p:spPr>
          <a:xfrm>
            <a:off x="4663440" y="914400"/>
            <a:ext cx="4023360" cy="274320"/>
          </a:xfrm>
          <a:prstGeom prst="rect">
            <a:avLst/>
          </a:prstGeom>
          <a:noFill/>
          <a:ln/>
        </p:spPr>
        <p:txBody>
          <a:bodyPr wrap="square" lIns="0" tIns="0" rIns="0" bIns="0" rtlCol="0" anchor="ctr"/>
          <a:lstStyle/>
          <a:p>
            <a:pPr indent="0" marL="0">
              <a:buNone/>
            </a:pPr>
            <a:r>
              <a:rPr lang="en-US" sz="1400" b="1" dirty="0">
                <a:solidFill>
                  <a:srgbClr val="14A3A3"/>
                </a:solidFill>
                <a:latin typeface="Calibri" pitchFamily="34" charset="0"/>
                <a:ea typeface="Calibri" pitchFamily="34" charset="-122"/>
                <a:cs typeface="Calibri" pitchFamily="34" charset="-120"/>
              </a:rPr>
              <a:t>Business Objective</a:t>
            </a:r>
            <a:endParaRPr lang="en-US" sz="1400" dirty="0"/>
          </a:p>
        </p:txBody>
      </p:sp>
      <p:sp>
        <p:nvSpPr>
          <p:cNvPr id="8" name="Text 6"/>
          <p:cNvSpPr txBox="1"/>
          <p:nvPr/>
        </p:nvSpPr>
        <p:spPr>
          <a:xfrm>
            <a:off x="4663440" y="1234440"/>
            <a:ext cx="4023360" cy="16459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Quantify churn and the capital lost with it</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Identify who churns and why</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Give retention teams targeted, actionable lists</a:t>
            </a:r>
            <a:endParaRPr lang="en-US" sz="1250" dirty="0"/>
          </a:p>
        </p:txBody>
      </p:sp>
      <p:sp>
        <p:nvSpPr>
          <p:cNvPr id="9" name="Shape 7"/>
          <p:cNvSpPr/>
          <p:nvPr/>
        </p:nvSpPr>
        <p:spPr>
          <a:xfrm>
            <a:off x="457200" y="3063240"/>
            <a:ext cx="8229600" cy="1554480"/>
          </a:xfrm>
          <a:prstGeom prst="rect">
            <a:avLst/>
          </a:prstGeom>
          <a:solidFill>
            <a:srgbClr val="F4F6F8"/>
          </a:solidFill>
          <a:ln/>
        </p:spPr>
      </p:sp>
      <p:sp>
        <p:nvSpPr>
          <p:cNvPr id="10" name="Text 8"/>
          <p:cNvSpPr txBox="1"/>
          <p:nvPr/>
        </p:nvSpPr>
        <p:spPr>
          <a:xfrm>
            <a:off x="640080" y="3154680"/>
            <a:ext cx="7863840" cy="274320"/>
          </a:xfrm>
          <a:prstGeom prst="rect">
            <a:avLst/>
          </a:prstGeom>
          <a:noFill/>
          <a:ln/>
        </p:spPr>
        <p:txBody>
          <a:bodyPr wrap="square" lIns="0" tIns="0" rIns="0" bIns="0" rtlCol="0" anchor="ctr"/>
          <a:lstStyle/>
          <a:p>
            <a:pPr indent="0" marL="0">
              <a:buNone/>
            </a:pPr>
            <a:r>
              <a:rPr lang="en-US" sz="1400" b="1" dirty="0">
                <a:solidFill>
                  <a:srgbClr val="F28C28"/>
                </a:solidFill>
                <a:latin typeface="Calibri" pitchFamily="34" charset="0"/>
                <a:ea typeface="Calibri" pitchFamily="34" charset="-122"/>
                <a:cs typeface="Calibri" pitchFamily="34" charset="-120"/>
              </a:rPr>
              <a:t>Problem Statement</a:t>
            </a:r>
            <a:endParaRPr lang="en-US" sz="1400" dirty="0"/>
          </a:p>
        </p:txBody>
      </p:sp>
      <p:sp>
        <p:nvSpPr>
          <p:cNvPr id="11" name="Text 9"/>
          <p:cNvSpPr txBox="1"/>
          <p:nvPr/>
        </p:nvSpPr>
        <p:spPr>
          <a:xfrm>
            <a:off x="640080" y="3474720"/>
            <a:ext cx="7863840" cy="100584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The bank is losing customers and the balances they hold, but does not know which segments (by product count, age, geography, activity or credit tier) drive churn. Using SQL, we must measure churn, diagnose its drivers and flag high-value customers still at risk.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Technology Stack &amp; Purpose of Each Tool</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3/15</a:t>
            </a:r>
            <a:endParaRPr lang="en-US" sz="900" dirty="0"/>
          </a:p>
        </p:txBody>
      </p:sp>
      <p:sp>
        <p:nvSpPr>
          <p:cNvPr id="5" name="Shape 3"/>
          <p:cNvSpPr/>
          <p:nvPr/>
        </p:nvSpPr>
        <p:spPr>
          <a:xfrm>
            <a:off x="457200" y="1188720"/>
            <a:ext cx="1920240" cy="3108960"/>
          </a:xfrm>
          <a:prstGeom prst="rect">
            <a:avLst/>
          </a:prstGeom>
          <a:solidFill>
            <a:srgbClr val="F4F6F8"/>
          </a:solidFill>
          <a:ln/>
        </p:spPr>
      </p:sp>
      <p:sp>
        <p:nvSpPr>
          <p:cNvPr id="6" name="Shape 4"/>
          <p:cNvSpPr/>
          <p:nvPr/>
        </p:nvSpPr>
        <p:spPr>
          <a:xfrm>
            <a:off x="457200" y="1188720"/>
            <a:ext cx="1920240" cy="822960"/>
          </a:xfrm>
          <a:prstGeom prst="rect">
            <a:avLst/>
          </a:prstGeom>
          <a:solidFill>
            <a:srgbClr val="1F3A5F"/>
          </a:solidFill>
          <a:ln/>
        </p:spPr>
      </p:sp>
      <p:sp>
        <p:nvSpPr>
          <p:cNvPr id="7" name="Text 5"/>
          <p:cNvSpPr txBox="1"/>
          <p:nvPr/>
        </p:nvSpPr>
        <p:spPr>
          <a:xfrm>
            <a:off x="548640" y="1188720"/>
            <a:ext cx="17373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Microsoft SQL Server</a:t>
            </a:r>
            <a:endParaRPr lang="en-US" sz="1500" dirty="0"/>
          </a:p>
        </p:txBody>
      </p:sp>
      <p:sp>
        <p:nvSpPr>
          <p:cNvPr id="8" name="Text 6"/>
          <p:cNvSpPr txBox="1"/>
          <p:nvPr/>
        </p:nvSpPr>
        <p:spPr>
          <a:xfrm>
            <a:off x="594360" y="2194560"/>
            <a:ext cx="1645920" cy="201168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Database engine that stores the Bank_Churn table and executes all analysis</a:t>
            </a:r>
            <a:endParaRPr lang="en-US" sz="1250" dirty="0"/>
          </a:p>
        </p:txBody>
      </p:sp>
      <p:sp>
        <p:nvSpPr>
          <p:cNvPr id="9" name="Shape 7"/>
          <p:cNvSpPr/>
          <p:nvPr/>
        </p:nvSpPr>
        <p:spPr>
          <a:xfrm>
            <a:off x="2560320" y="1188720"/>
            <a:ext cx="1920240" cy="3108960"/>
          </a:xfrm>
          <a:prstGeom prst="rect">
            <a:avLst/>
          </a:prstGeom>
          <a:solidFill>
            <a:srgbClr val="F4F6F8"/>
          </a:solidFill>
          <a:ln/>
        </p:spPr>
      </p:sp>
      <p:sp>
        <p:nvSpPr>
          <p:cNvPr id="10" name="Shape 8"/>
          <p:cNvSpPr/>
          <p:nvPr/>
        </p:nvSpPr>
        <p:spPr>
          <a:xfrm>
            <a:off x="2560320" y="1188720"/>
            <a:ext cx="1920240" cy="822960"/>
          </a:xfrm>
          <a:prstGeom prst="rect">
            <a:avLst/>
          </a:prstGeom>
          <a:solidFill>
            <a:srgbClr val="14A3A3"/>
          </a:solidFill>
          <a:ln/>
        </p:spPr>
      </p:sp>
      <p:sp>
        <p:nvSpPr>
          <p:cNvPr id="11" name="Text 9"/>
          <p:cNvSpPr txBox="1"/>
          <p:nvPr/>
        </p:nvSpPr>
        <p:spPr>
          <a:xfrm>
            <a:off x="2651760" y="1188720"/>
            <a:ext cx="17373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SSMS 20</a:t>
            </a:r>
            <a:endParaRPr lang="en-US" sz="1500" dirty="0"/>
          </a:p>
        </p:txBody>
      </p:sp>
      <p:sp>
        <p:nvSpPr>
          <p:cNvPr id="12" name="Text 10"/>
          <p:cNvSpPr txBox="1"/>
          <p:nvPr/>
        </p:nvSpPr>
        <p:spPr>
          <a:xfrm>
            <a:off x="2697480" y="2194560"/>
            <a:ext cx="1645920" cy="201168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Query editor used to write, run and validate queries and review result grids</a:t>
            </a:r>
            <a:endParaRPr lang="en-US" sz="1250" dirty="0"/>
          </a:p>
        </p:txBody>
      </p:sp>
      <p:sp>
        <p:nvSpPr>
          <p:cNvPr id="13" name="Shape 11"/>
          <p:cNvSpPr/>
          <p:nvPr/>
        </p:nvSpPr>
        <p:spPr>
          <a:xfrm>
            <a:off x="4663440" y="1188720"/>
            <a:ext cx="1920240" cy="3108960"/>
          </a:xfrm>
          <a:prstGeom prst="rect">
            <a:avLst/>
          </a:prstGeom>
          <a:solidFill>
            <a:srgbClr val="F4F6F8"/>
          </a:solidFill>
          <a:ln/>
        </p:spPr>
      </p:sp>
      <p:sp>
        <p:nvSpPr>
          <p:cNvPr id="14" name="Shape 12"/>
          <p:cNvSpPr/>
          <p:nvPr/>
        </p:nvSpPr>
        <p:spPr>
          <a:xfrm>
            <a:off x="4663440" y="1188720"/>
            <a:ext cx="1920240" cy="822960"/>
          </a:xfrm>
          <a:prstGeom prst="rect">
            <a:avLst/>
          </a:prstGeom>
          <a:solidFill>
            <a:srgbClr val="F28C28"/>
          </a:solidFill>
          <a:ln/>
        </p:spPr>
      </p:sp>
      <p:sp>
        <p:nvSpPr>
          <p:cNvPr id="15" name="Text 13"/>
          <p:cNvSpPr txBox="1"/>
          <p:nvPr/>
        </p:nvSpPr>
        <p:spPr>
          <a:xfrm>
            <a:off x="4754880" y="1188720"/>
            <a:ext cx="17373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T-SQL</a:t>
            </a:r>
            <a:endParaRPr lang="en-US" sz="1500" dirty="0"/>
          </a:p>
        </p:txBody>
      </p:sp>
      <p:sp>
        <p:nvSpPr>
          <p:cNvPr id="16" name="Text 14"/>
          <p:cNvSpPr txBox="1"/>
          <p:nvPr/>
        </p:nvSpPr>
        <p:spPr>
          <a:xfrm>
            <a:off x="4800600" y="2194560"/>
            <a:ext cx="1645920" cy="201168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Language used for filtering, aggregation, CASE segmentation, window functions and TOP-N lists</a:t>
            </a:r>
            <a:endParaRPr lang="en-US" sz="1250" dirty="0"/>
          </a:p>
        </p:txBody>
      </p:sp>
      <p:sp>
        <p:nvSpPr>
          <p:cNvPr id="17" name="Shape 15"/>
          <p:cNvSpPr/>
          <p:nvPr/>
        </p:nvSpPr>
        <p:spPr>
          <a:xfrm>
            <a:off x="6766560" y="1188720"/>
            <a:ext cx="1920240" cy="3108960"/>
          </a:xfrm>
          <a:prstGeom prst="rect">
            <a:avLst/>
          </a:prstGeom>
          <a:solidFill>
            <a:srgbClr val="F4F6F8"/>
          </a:solidFill>
          <a:ln/>
        </p:spPr>
      </p:sp>
      <p:sp>
        <p:nvSpPr>
          <p:cNvPr id="18" name="Shape 16"/>
          <p:cNvSpPr/>
          <p:nvPr/>
        </p:nvSpPr>
        <p:spPr>
          <a:xfrm>
            <a:off x="6766560" y="1188720"/>
            <a:ext cx="1920240" cy="822960"/>
          </a:xfrm>
          <a:prstGeom prst="rect">
            <a:avLst/>
          </a:prstGeom>
          <a:solidFill>
            <a:srgbClr val="5B6770"/>
          </a:solidFill>
          <a:ln/>
        </p:spPr>
      </p:sp>
      <p:sp>
        <p:nvSpPr>
          <p:cNvPr id="19" name="Text 17"/>
          <p:cNvSpPr txBox="1"/>
          <p:nvPr/>
        </p:nvSpPr>
        <p:spPr>
          <a:xfrm>
            <a:off x="6858000" y="1188720"/>
            <a:ext cx="17373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PowerPoint</a:t>
            </a:r>
            <a:endParaRPr lang="en-US" sz="1500" dirty="0"/>
          </a:p>
        </p:txBody>
      </p:sp>
      <p:sp>
        <p:nvSpPr>
          <p:cNvPr id="20" name="Text 18"/>
          <p:cNvSpPr txBox="1"/>
          <p:nvPr/>
        </p:nvSpPr>
        <p:spPr>
          <a:xfrm>
            <a:off x="6903720" y="2194560"/>
            <a:ext cx="1645920" cy="201168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Presents KPIs, insights and recommendations to business stakeholders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Q1: High-Value Inactive Churn</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4/15</a:t>
            </a:r>
            <a:endParaRPr lang="en-US" sz="900" dirty="0"/>
          </a:p>
        </p:txBody>
      </p:sp>
      <p:sp>
        <p:nvSpPr>
          <p:cNvPr id="5" name="Text 3"/>
          <p:cNvSpPr txBox="1"/>
          <p:nvPr/>
        </p:nvSpPr>
        <p:spPr>
          <a:xfrm>
            <a:off x="457200" y="786384"/>
            <a:ext cx="8229600" cy="411480"/>
          </a:xfrm>
          <a:prstGeom prst="rect">
            <a:avLst/>
          </a:prstGeom>
          <a:noFill/>
          <a:ln/>
        </p:spPr>
        <p:txBody>
          <a:bodyPr wrap="square" lIns="0" tIns="0" rIns="0" bIns="0" rtlCol="0" anchor="ctr"/>
          <a:lstStyle/>
          <a:p>
            <a:pPr indent="0" marL="0">
              <a:buNone/>
            </a:pPr>
            <a:r>
              <a:rPr lang="en-US" sz="1100" i="1" dirty="0">
                <a:solidFill>
                  <a:srgbClr val="5B6770"/>
                </a:solidFill>
                <a:latin typeface="Calibri" pitchFamily="34" charset="0"/>
                <a:ea typeface="Calibri" pitchFamily="34" charset="-122"/>
                <a:cs typeface="Calibri" pitchFamily="34" charset="-120"/>
              </a:rPr>
              <a:t>What is the churn rate among customers with a balance above $100,000 who are completely inactive?</a:t>
            </a:r>
            <a:endParaRPr lang="en-US" sz="1100" dirty="0"/>
          </a:p>
        </p:txBody>
      </p:sp>
      <p:sp>
        <p:nvSpPr>
          <p:cNvPr id="6" name="Shape 4"/>
          <p:cNvSpPr/>
          <p:nvPr/>
        </p:nvSpPr>
        <p:spPr>
          <a:xfrm>
            <a:off x="457200" y="1261872"/>
            <a:ext cx="2651760" cy="822960"/>
          </a:xfrm>
          <a:prstGeom prst="rect">
            <a:avLst/>
          </a:prstGeom>
          <a:solidFill>
            <a:srgbClr val="F4F6F8"/>
          </a:solidFill>
          <a:ln w="12700">
            <a:solidFill>
              <a:srgbClr val="FFFFFF"/>
            </a:solidFill>
            <a:prstDash val="solid"/>
          </a:ln>
        </p:spPr>
      </p:sp>
      <p:sp>
        <p:nvSpPr>
          <p:cNvPr id="7" name="Shape 5"/>
          <p:cNvSpPr/>
          <p:nvPr/>
        </p:nvSpPr>
        <p:spPr>
          <a:xfrm>
            <a:off x="457200" y="1261872"/>
            <a:ext cx="64008" cy="822960"/>
          </a:xfrm>
          <a:prstGeom prst="rect">
            <a:avLst/>
          </a:prstGeom>
          <a:solidFill>
            <a:srgbClr val="14A3A3"/>
          </a:solidFill>
          <a:ln/>
        </p:spPr>
      </p:sp>
      <p:sp>
        <p:nvSpPr>
          <p:cNvPr id="8" name="Text 6"/>
          <p:cNvSpPr txBox="1"/>
          <p:nvPr/>
        </p:nvSpPr>
        <p:spPr>
          <a:xfrm>
            <a:off x="64008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772</a:t>
            </a:r>
            <a:endParaRPr lang="en-US" sz="2200" dirty="0"/>
          </a:p>
        </p:txBody>
      </p:sp>
      <p:sp>
        <p:nvSpPr>
          <p:cNvPr id="9" name="Text 7"/>
          <p:cNvSpPr txBox="1"/>
          <p:nvPr/>
        </p:nvSpPr>
        <p:spPr>
          <a:xfrm>
            <a:off x="64008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high-balance, inactive customers who churned</a:t>
            </a:r>
            <a:endParaRPr lang="en-US" sz="1050" dirty="0"/>
          </a:p>
        </p:txBody>
      </p:sp>
      <p:sp>
        <p:nvSpPr>
          <p:cNvPr id="10" name="Shape 8"/>
          <p:cNvSpPr/>
          <p:nvPr/>
        </p:nvSpPr>
        <p:spPr>
          <a:xfrm>
            <a:off x="3246120" y="1261872"/>
            <a:ext cx="2651760" cy="822960"/>
          </a:xfrm>
          <a:prstGeom prst="rect">
            <a:avLst/>
          </a:prstGeom>
          <a:solidFill>
            <a:srgbClr val="F4F6F8"/>
          </a:solidFill>
          <a:ln w="12700">
            <a:solidFill>
              <a:srgbClr val="FFFFFF"/>
            </a:solidFill>
            <a:prstDash val="solid"/>
          </a:ln>
        </p:spPr>
      </p:sp>
      <p:sp>
        <p:nvSpPr>
          <p:cNvPr id="11" name="Shape 9"/>
          <p:cNvSpPr/>
          <p:nvPr/>
        </p:nvSpPr>
        <p:spPr>
          <a:xfrm>
            <a:off x="3246120" y="1261872"/>
            <a:ext cx="64008" cy="822960"/>
          </a:xfrm>
          <a:prstGeom prst="rect">
            <a:avLst/>
          </a:prstGeom>
          <a:solidFill>
            <a:srgbClr val="F28C28"/>
          </a:solidFill>
          <a:ln/>
        </p:spPr>
      </p:sp>
      <p:sp>
        <p:nvSpPr>
          <p:cNvPr id="12" name="Text 10"/>
          <p:cNvSpPr txBox="1"/>
          <p:nvPr/>
        </p:nvSpPr>
        <p:spPr>
          <a:xfrm>
            <a:off x="342900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2,356</a:t>
            </a:r>
            <a:endParaRPr lang="en-US" sz="2200" dirty="0"/>
          </a:p>
        </p:txBody>
      </p:sp>
      <p:sp>
        <p:nvSpPr>
          <p:cNvPr id="13" name="Text 11"/>
          <p:cNvSpPr txBox="1"/>
          <p:nvPr/>
        </p:nvSpPr>
        <p:spPr>
          <a:xfrm>
            <a:off x="342900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high-balance inactive customers in total</a:t>
            </a:r>
            <a:endParaRPr lang="en-US" sz="1050" dirty="0"/>
          </a:p>
        </p:txBody>
      </p:sp>
      <p:sp>
        <p:nvSpPr>
          <p:cNvPr id="14" name="Shape 12"/>
          <p:cNvSpPr/>
          <p:nvPr/>
        </p:nvSpPr>
        <p:spPr>
          <a:xfrm>
            <a:off x="6035040" y="1261872"/>
            <a:ext cx="2651760" cy="822960"/>
          </a:xfrm>
          <a:prstGeom prst="rect">
            <a:avLst/>
          </a:prstGeom>
          <a:solidFill>
            <a:srgbClr val="F4F6F8"/>
          </a:solidFill>
          <a:ln w="12700">
            <a:solidFill>
              <a:srgbClr val="FFFFFF"/>
            </a:solidFill>
            <a:prstDash val="solid"/>
          </a:ln>
        </p:spPr>
      </p:sp>
      <p:sp>
        <p:nvSpPr>
          <p:cNvPr id="15" name="Shape 13"/>
          <p:cNvSpPr/>
          <p:nvPr/>
        </p:nvSpPr>
        <p:spPr>
          <a:xfrm>
            <a:off x="6035040" y="1261872"/>
            <a:ext cx="64008" cy="822960"/>
          </a:xfrm>
          <a:prstGeom prst="rect">
            <a:avLst/>
          </a:prstGeom>
          <a:solidFill>
            <a:srgbClr val="14A3A3"/>
          </a:solidFill>
          <a:ln/>
        </p:spPr>
      </p:sp>
      <p:sp>
        <p:nvSpPr>
          <p:cNvPr id="16" name="Text 14"/>
          <p:cNvSpPr txBox="1"/>
          <p:nvPr/>
        </p:nvSpPr>
        <p:spPr>
          <a:xfrm>
            <a:off x="621792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32.77%</a:t>
            </a:r>
            <a:endParaRPr lang="en-US" sz="2200" dirty="0"/>
          </a:p>
        </p:txBody>
      </p:sp>
      <p:sp>
        <p:nvSpPr>
          <p:cNvPr id="17" name="Text 15"/>
          <p:cNvSpPr txBox="1"/>
          <p:nvPr/>
        </p:nvSpPr>
        <p:spPr>
          <a:xfrm>
            <a:off x="621792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churn rate vs 20.37% bank average</a:t>
            </a:r>
            <a:endParaRPr lang="en-US" sz="1050" dirty="0"/>
          </a:p>
        </p:txBody>
      </p:sp>
      <p:graphicFrame>
        <p:nvGraphicFramePr>
          <p:cNvPr id="18" name="Chart 0" descr=""/>
          <p:cNvGraphicFramePr/>
          <p:nvPr/>
        </p:nvGraphicFramePr>
        <p:xfrm>
          <a:off x="457200" y="2194560"/>
          <a:ext cx="4937760" cy="17373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577840" y="2194560"/>
            <a:ext cx="31089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the data shows</a:t>
            </a:r>
            <a:endParaRPr lang="en-US" sz="1400" dirty="0"/>
          </a:p>
        </p:txBody>
      </p:sp>
      <p:sp>
        <p:nvSpPr>
          <p:cNvPr id="20" name="Text 17"/>
          <p:cNvSpPr txBox="1"/>
          <p:nvPr/>
        </p:nvSpPr>
        <p:spPr>
          <a:xfrm>
            <a:off x="5577840" y="2487168"/>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Inactive high-balance customers churn 1.6x faster than average</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About 1 in 3 of them has already left</a:t>
            </a:r>
            <a:endParaRPr lang="en-US" sz="1050" dirty="0"/>
          </a:p>
        </p:txBody>
      </p:sp>
      <p:sp>
        <p:nvSpPr>
          <p:cNvPr id="21" name="Shape 18"/>
          <p:cNvSpPr/>
          <p:nvPr/>
        </p:nvSpPr>
        <p:spPr>
          <a:xfrm>
            <a:off x="457200" y="3977640"/>
            <a:ext cx="8229600" cy="731520"/>
          </a:xfrm>
          <a:prstGeom prst="rect">
            <a:avLst/>
          </a:prstGeom>
          <a:solidFill>
            <a:srgbClr val="1F3A5F"/>
          </a:solidFill>
          <a:ln/>
        </p:spPr>
      </p:sp>
      <p:sp>
        <p:nvSpPr>
          <p:cNvPr id="22" name="Text 19"/>
          <p:cNvSpPr txBox="1"/>
          <p:nvPr/>
        </p:nvSpPr>
        <p:spPr>
          <a:xfrm>
            <a:off x="594360" y="3977640"/>
            <a:ext cx="7955280" cy="731520"/>
          </a:xfrm>
          <a:prstGeom prst="rect">
            <a:avLst/>
          </a:prstGeom>
          <a:noFill/>
          <a:ln/>
        </p:spPr>
        <p:txBody>
          <a:bodyPr wrap="square" lIns="0" tIns="0" rIns="0" bIns="0" rtlCol="0" anchor="ctr"/>
          <a:lstStyle/>
          <a:p>
            <a:pPr indent="0" marL="0">
              <a:buNone/>
            </a:pPr>
            <a:r>
              <a:rPr lang="en-US" sz="1100" b="1" dirty="0">
                <a:solidFill>
                  <a:srgbClr val="F28C28"/>
                </a:solidFill>
                <a:latin typeface="Calibri" pitchFamily="34" charset="0"/>
                <a:ea typeface="Calibri" pitchFamily="34" charset="-122"/>
                <a:cs typeface="Calibri" pitchFamily="34" charset="-120"/>
              </a:rPr>
              <a:t>Business impact:  </a:t>
            </a:r>
            <a:pPr indent="0" marL="0">
              <a:buNone/>
            </a:pPr>
            <a:r>
              <a:rPr lang="en-US" sz="1100" dirty="0">
                <a:solidFill>
                  <a:srgbClr val="FFFFFF"/>
                </a:solidFill>
                <a:latin typeface="Calibri" pitchFamily="34" charset="0"/>
                <a:ea typeface="Calibri" pitchFamily="34" charset="-122"/>
                <a:cs typeface="Calibri" pitchFamily="34" charset="-120"/>
              </a:rPr>
              <a:t>These customers hold the largest deposits, so losing them hits funding and revenue hardest. Inactivity is an early-warning signal worth acting 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Q2: Overall Churn Rate</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5/15</a:t>
            </a:r>
            <a:endParaRPr lang="en-US" sz="900" dirty="0"/>
          </a:p>
        </p:txBody>
      </p:sp>
      <p:sp>
        <p:nvSpPr>
          <p:cNvPr id="5" name="Text 3"/>
          <p:cNvSpPr txBox="1"/>
          <p:nvPr/>
        </p:nvSpPr>
        <p:spPr>
          <a:xfrm>
            <a:off x="457200" y="786384"/>
            <a:ext cx="8229600" cy="411480"/>
          </a:xfrm>
          <a:prstGeom prst="rect">
            <a:avLst/>
          </a:prstGeom>
          <a:noFill/>
          <a:ln/>
        </p:spPr>
        <p:txBody>
          <a:bodyPr wrap="square" lIns="0" tIns="0" rIns="0" bIns="0" rtlCol="0" anchor="ctr"/>
          <a:lstStyle/>
          <a:p>
            <a:pPr indent="0" marL="0">
              <a:buNone/>
            </a:pPr>
            <a:r>
              <a:rPr lang="en-US" sz="1100" i="1" dirty="0">
                <a:solidFill>
                  <a:srgbClr val="5B6770"/>
                </a:solidFill>
                <a:latin typeface="Calibri" pitchFamily="34" charset="0"/>
                <a:ea typeface="Calibri" pitchFamily="34" charset="-122"/>
                <a:cs typeface="Calibri" pitchFamily="34" charset="-120"/>
              </a:rPr>
              <a:t>What is the overall customer churn rate of the bank, as a percentage?</a:t>
            </a:r>
            <a:endParaRPr lang="en-US" sz="1100" dirty="0"/>
          </a:p>
        </p:txBody>
      </p:sp>
      <p:sp>
        <p:nvSpPr>
          <p:cNvPr id="6" name="Shape 4"/>
          <p:cNvSpPr/>
          <p:nvPr/>
        </p:nvSpPr>
        <p:spPr>
          <a:xfrm>
            <a:off x="457200" y="1261872"/>
            <a:ext cx="2651760" cy="822960"/>
          </a:xfrm>
          <a:prstGeom prst="rect">
            <a:avLst/>
          </a:prstGeom>
          <a:solidFill>
            <a:srgbClr val="F4F6F8"/>
          </a:solidFill>
          <a:ln w="12700">
            <a:solidFill>
              <a:srgbClr val="FFFFFF"/>
            </a:solidFill>
            <a:prstDash val="solid"/>
          </a:ln>
        </p:spPr>
      </p:sp>
      <p:sp>
        <p:nvSpPr>
          <p:cNvPr id="7" name="Shape 5"/>
          <p:cNvSpPr/>
          <p:nvPr/>
        </p:nvSpPr>
        <p:spPr>
          <a:xfrm>
            <a:off x="457200" y="1261872"/>
            <a:ext cx="64008" cy="822960"/>
          </a:xfrm>
          <a:prstGeom prst="rect">
            <a:avLst/>
          </a:prstGeom>
          <a:solidFill>
            <a:srgbClr val="14A3A3"/>
          </a:solidFill>
          <a:ln/>
        </p:spPr>
      </p:sp>
      <p:sp>
        <p:nvSpPr>
          <p:cNvPr id="8" name="Text 6"/>
          <p:cNvSpPr txBox="1"/>
          <p:nvPr/>
        </p:nvSpPr>
        <p:spPr>
          <a:xfrm>
            <a:off x="64008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2,037</a:t>
            </a:r>
            <a:endParaRPr lang="en-US" sz="2200" dirty="0"/>
          </a:p>
        </p:txBody>
      </p:sp>
      <p:sp>
        <p:nvSpPr>
          <p:cNvPr id="9" name="Text 7"/>
          <p:cNvSpPr txBox="1"/>
          <p:nvPr/>
        </p:nvSpPr>
        <p:spPr>
          <a:xfrm>
            <a:off x="64008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customers churned</a:t>
            </a:r>
            <a:endParaRPr lang="en-US" sz="1050" dirty="0"/>
          </a:p>
        </p:txBody>
      </p:sp>
      <p:sp>
        <p:nvSpPr>
          <p:cNvPr id="10" name="Shape 8"/>
          <p:cNvSpPr/>
          <p:nvPr/>
        </p:nvSpPr>
        <p:spPr>
          <a:xfrm>
            <a:off x="3246120" y="1261872"/>
            <a:ext cx="2651760" cy="822960"/>
          </a:xfrm>
          <a:prstGeom prst="rect">
            <a:avLst/>
          </a:prstGeom>
          <a:solidFill>
            <a:srgbClr val="F4F6F8"/>
          </a:solidFill>
          <a:ln w="12700">
            <a:solidFill>
              <a:srgbClr val="FFFFFF"/>
            </a:solidFill>
            <a:prstDash val="solid"/>
          </a:ln>
        </p:spPr>
      </p:sp>
      <p:sp>
        <p:nvSpPr>
          <p:cNvPr id="11" name="Shape 9"/>
          <p:cNvSpPr/>
          <p:nvPr/>
        </p:nvSpPr>
        <p:spPr>
          <a:xfrm>
            <a:off x="3246120" y="1261872"/>
            <a:ext cx="64008" cy="822960"/>
          </a:xfrm>
          <a:prstGeom prst="rect">
            <a:avLst/>
          </a:prstGeom>
          <a:solidFill>
            <a:srgbClr val="F28C28"/>
          </a:solidFill>
          <a:ln/>
        </p:spPr>
      </p:sp>
      <p:sp>
        <p:nvSpPr>
          <p:cNvPr id="12" name="Text 10"/>
          <p:cNvSpPr txBox="1"/>
          <p:nvPr/>
        </p:nvSpPr>
        <p:spPr>
          <a:xfrm>
            <a:off x="342900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10,000</a:t>
            </a:r>
            <a:endParaRPr lang="en-US" sz="2200" dirty="0"/>
          </a:p>
        </p:txBody>
      </p:sp>
      <p:sp>
        <p:nvSpPr>
          <p:cNvPr id="13" name="Text 11"/>
          <p:cNvSpPr txBox="1"/>
          <p:nvPr/>
        </p:nvSpPr>
        <p:spPr>
          <a:xfrm>
            <a:off x="342900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total customers</a:t>
            </a:r>
            <a:endParaRPr lang="en-US" sz="1050" dirty="0"/>
          </a:p>
        </p:txBody>
      </p:sp>
      <p:sp>
        <p:nvSpPr>
          <p:cNvPr id="14" name="Shape 12"/>
          <p:cNvSpPr/>
          <p:nvPr/>
        </p:nvSpPr>
        <p:spPr>
          <a:xfrm>
            <a:off x="6035040" y="1261872"/>
            <a:ext cx="2651760" cy="822960"/>
          </a:xfrm>
          <a:prstGeom prst="rect">
            <a:avLst/>
          </a:prstGeom>
          <a:solidFill>
            <a:srgbClr val="F4F6F8"/>
          </a:solidFill>
          <a:ln w="12700">
            <a:solidFill>
              <a:srgbClr val="FFFFFF"/>
            </a:solidFill>
            <a:prstDash val="solid"/>
          </a:ln>
        </p:spPr>
      </p:sp>
      <p:sp>
        <p:nvSpPr>
          <p:cNvPr id="15" name="Shape 13"/>
          <p:cNvSpPr/>
          <p:nvPr/>
        </p:nvSpPr>
        <p:spPr>
          <a:xfrm>
            <a:off x="6035040" y="1261872"/>
            <a:ext cx="64008" cy="822960"/>
          </a:xfrm>
          <a:prstGeom prst="rect">
            <a:avLst/>
          </a:prstGeom>
          <a:solidFill>
            <a:srgbClr val="14A3A3"/>
          </a:solidFill>
          <a:ln/>
        </p:spPr>
      </p:sp>
      <p:sp>
        <p:nvSpPr>
          <p:cNvPr id="16" name="Text 14"/>
          <p:cNvSpPr txBox="1"/>
          <p:nvPr/>
        </p:nvSpPr>
        <p:spPr>
          <a:xfrm>
            <a:off x="621792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20.37%</a:t>
            </a:r>
            <a:endParaRPr lang="en-US" sz="2200" dirty="0"/>
          </a:p>
        </p:txBody>
      </p:sp>
      <p:sp>
        <p:nvSpPr>
          <p:cNvPr id="17" name="Text 15"/>
          <p:cNvSpPr txBox="1"/>
          <p:nvPr/>
        </p:nvSpPr>
        <p:spPr>
          <a:xfrm>
            <a:off x="621792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overall churn rate</a:t>
            </a:r>
            <a:endParaRPr lang="en-US" sz="1050" dirty="0"/>
          </a:p>
        </p:txBody>
      </p:sp>
      <p:graphicFrame>
        <p:nvGraphicFramePr>
          <p:cNvPr id="18" name="Chart 0" descr=""/>
          <p:cNvGraphicFramePr/>
          <p:nvPr/>
        </p:nvGraphicFramePr>
        <p:xfrm>
          <a:off x="457200" y="2194560"/>
          <a:ext cx="4937760" cy="17373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577840" y="2194560"/>
            <a:ext cx="31089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the data shows</a:t>
            </a:r>
            <a:endParaRPr lang="en-US" sz="1400" dirty="0"/>
          </a:p>
        </p:txBody>
      </p:sp>
      <p:sp>
        <p:nvSpPr>
          <p:cNvPr id="20" name="Text 17"/>
          <p:cNvSpPr txBox="1"/>
          <p:nvPr/>
        </p:nvSpPr>
        <p:spPr>
          <a:xfrm>
            <a:off x="5577840" y="2487168"/>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1 in 5 customers has left the bank</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This is the benchmark for every other segment</a:t>
            </a:r>
            <a:endParaRPr lang="en-US" sz="1050" dirty="0"/>
          </a:p>
        </p:txBody>
      </p:sp>
      <p:sp>
        <p:nvSpPr>
          <p:cNvPr id="21" name="Shape 18"/>
          <p:cNvSpPr/>
          <p:nvPr/>
        </p:nvSpPr>
        <p:spPr>
          <a:xfrm>
            <a:off x="457200" y="3977640"/>
            <a:ext cx="8229600" cy="731520"/>
          </a:xfrm>
          <a:prstGeom prst="rect">
            <a:avLst/>
          </a:prstGeom>
          <a:solidFill>
            <a:srgbClr val="1F3A5F"/>
          </a:solidFill>
          <a:ln/>
        </p:spPr>
      </p:sp>
      <p:sp>
        <p:nvSpPr>
          <p:cNvPr id="22" name="Text 19"/>
          <p:cNvSpPr txBox="1"/>
          <p:nvPr/>
        </p:nvSpPr>
        <p:spPr>
          <a:xfrm>
            <a:off x="594360" y="3977640"/>
            <a:ext cx="7955280" cy="731520"/>
          </a:xfrm>
          <a:prstGeom prst="rect">
            <a:avLst/>
          </a:prstGeom>
          <a:noFill/>
          <a:ln/>
        </p:spPr>
        <p:txBody>
          <a:bodyPr wrap="square" lIns="0" tIns="0" rIns="0" bIns="0" rtlCol="0" anchor="ctr"/>
          <a:lstStyle/>
          <a:p>
            <a:pPr indent="0" marL="0">
              <a:buNone/>
            </a:pPr>
            <a:r>
              <a:rPr lang="en-US" sz="1100" b="1" dirty="0">
                <a:solidFill>
                  <a:srgbClr val="F28C28"/>
                </a:solidFill>
                <a:latin typeface="Calibri" pitchFamily="34" charset="0"/>
                <a:ea typeface="Calibri" pitchFamily="34" charset="-122"/>
                <a:cs typeface="Calibri" pitchFamily="34" charset="-120"/>
              </a:rPr>
              <a:t>Business impact:  </a:t>
            </a:r>
            <a:pPr indent="0" marL="0">
              <a:buNone/>
            </a:pPr>
            <a:r>
              <a:rPr lang="en-US" sz="1100" dirty="0">
                <a:solidFill>
                  <a:srgbClr val="FFFFFF"/>
                </a:solidFill>
                <a:latin typeface="Calibri" pitchFamily="34" charset="0"/>
                <a:ea typeface="Calibri" pitchFamily="34" charset="-122"/>
                <a:cs typeface="Calibri" pitchFamily="34" charset="-120"/>
              </a:rPr>
              <a:t>Every 1 point of churn is 100 customers lost. This KPI is the baseline for tracking whether retention programmes actually work.</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Q3: Premium Risk Segment</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6/15</a:t>
            </a:r>
            <a:endParaRPr lang="en-US" sz="900" dirty="0"/>
          </a:p>
        </p:txBody>
      </p:sp>
      <p:sp>
        <p:nvSpPr>
          <p:cNvPr id="5" name="Text 3"/>
          <p:cNvSpPr txBox="1"/>
          <p:nvPr/>
        </p:nvSpPr>
        <p:spPr>
          <a:xfrm>
            <a:off x="457200" y="786384"/>
            <a:ext cx="8229600" cy="411480"/>
          </a:xfrm>
          <a:prstGeom prst="rect">
            <a:avLst/>
          </a:prstGeom>
          <a:noFill/>
          <a:ln/>
        </p:spPr>
        <p:txBody>
          <a:bodyPr wrap="square" lIns="0" tIns="0" rIns="0" bIns="0" rtlCol="0" anchor="ctr"/>
          <a:lstStyle/>
          <a:p>
            <a:pPr indent="0" marL="0">
              <a:buNone/>
            </a:pPr>
            <a:r>
              <a:rPr lang="en-US" sz="1100" i="1" dirty="0">
                <a:solidFill>
                  <a:srgbClr val="5B6770"/>
                </a:solidFill>
                <a:latin typeface="Calibri" pitchFamily="34" charset="0"/>
                <a:ea typeface="Calibri" pitchFamily="34" charset="-122"/>
                <a:cs typeface="Calibri" pitchFamily="34" charset="-120"/>
              </a:rPr>
              <a:t>How many customers have balance above $100K, hold 3+ products and are inactive, and what is their churn rate?</a:t>
            </a:r>
            <a:endParaRPr lang="en-US" sz="1100" dirty="0"/>
          </a:p>
        </p:txBody>
      </p:sp>
      <p:sp>
        <p:nvSpPr>
          <p:cNvPr id="6" name="Shape 4"/>
          <p:cNvSpPr/>
          <p:nvPr/>
        </p:nvSpPr>
        <p:spPr>
          <a:xfrm>
            <a:off x="457200" y="1261872"/>
            <a:ext cx="2651760" cy="822960"/>
          </a:xfrm>
          <a:prstGeom prst="rect">
            <a:avLst/>
          </a:prstGeom>
          <a:solidFill>
            <a:srgbClr val="F4F6F8"/>
          </a:solidFill>
          <a:ln w="12700">
            <a:solidFill>
              <a:srgbClr val="FFFFFF"/>
            </a:solidFill>
            <a:prstDash val="solid"/>
          </a:ln>
        </p:spPr>
      </p:sp>
      <p:sp>
        <p:nvSpPr>
          <p:cNvPr id="7" name="Shape 5"/>
          <p:cNvSpPr/>
          <p:nvPr/>
        </p:nvSpPr>
        <p:spPr>
          <a:xfrm>
            <a:off x="457200" y="1261872"/>
            <a:ext cx="64008" cy="822960"/>
          </a:xfrm>
          <a:prstGeom prst="rect">
            <a:avLst/>
          </a:prstGeom>
          <a:solidFill>
            <a:srgbClr val="14A3A3"/>
          </a:solidFill>
          <a:ln/>
        </p:spPr>
      </p:sp>
      <p:sp>
        <p:nvSpPr>
          <p:cNvPr id="8" name="Text 6"/>
          <p:cNvSpPr txBox="1"/>
          <p:nvPr/>
        </p:nvSpPr>
        <p:spPr>
          <a:xfrm>
            <a:off x="64008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101</a:t>
            </a:r>
            <a:endParaRPr lang="en-US" sz="2200" dirty="0"/>
          </a:p>
        </p:txBody>
      </p:sp>
      <p:sp>
        <p:nvSpPr>
          <p:cNvPr id="9" name="Text 7"/>
          <p:cNvSpPr txBox="1"/>
          <p:nvPr/>
        </p:nvSpPr>
        <p:spPr>
          <a:xfrm>
            <a:off x="64008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customers in the segment</a:t>
            </a:r>
            <a:endParaRPr lang="en-US" sz="1050" dirty="0"/>
          </a:p>
        </p:txBody>
      </p:sp>
      <p:sp>
        <p:nvSpPr>
          <p:cNvPr id="10" name="Shape 8"/>
          <p:cNvSpPr/>
          <p:nvPr/>
        </p:nvSpPr>
        <p:spPr>
          <a:xfrm>
            <a:off x="3246120" y="1261872"/>
            <a:ext cx="2651760" cy="822960"/>
          </a:xfrm>
          <a:prstGeom prst="rect">
            <a:avLst/>
          </a:prstGeom>
          <a:solidFill>
            <a:srgbClr val="F4F6F8"/>
          </a:solidFill>
          <a:ln w="12700">
            <a:solidFill>
              <a:srgbClr val="FFFFFF"/>
            </a:solidFill>
            <a:prstDash val="solid"/>
          </a:ln>
        </p:spPr>
      </p:sp>
      <p:sp>
        <p:nvSpPr>
          <p:cNvPr id="11" name="Shape 9"/>
          <p:cNvSpPr/>
          <p:nvPr/>
        </p:nvSpPr>
        <p:spPr>
          <a:xfrm>
            <a:off x="3246120" y="1261872"/>
            <a:ext cx="64008" cy="822960"/>
          </a:xfrm>
          <a:prstGeom prst="rect">
            <a:avLst/>
          </a:prstGeom>
          <a:solidFill>
            <a:srgbClr val="F28C28"/>
          </a:solidFill>
          <a:ln/>
        </p:spPr>
      </p:sp>
      <p:sp>
        <p:nvSpPr>
          <p:cNvPr id="12" name="Text 10"/>
          <p:cNvSpPr txBox="1"/>
          <p:nvPr/>
        </p:nvSpPr>
        <p:spPr>
          <a:xfrm>
            <a:off x="342900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98</a:t>
            </a:r>
            <a:endParaRPr lang="en-US" sz="2200" dirty="0"/>
          </a:p>
        </p:txBody>
      </p:sp>
      <p:sp>
        <p:nvSpPr>
          <p:cNvPr id="13" name="Text 11"/>
          <p:cNvSpPr txBox="1"/>
          <p:nvPr/>
        </p:nvSpPr>
        <p:spPr>
          <a:xfrm>
            <a:off x="342900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churned</a:t>
            </a:r>
            <a:endParaRPr lang="en-US" sz="1050" dirty="0"/>
          </a:p>
        </p:txBody>
      </p:sp>
      <p:sp>
        <p:nvSpPr>
          <p:cNvPr id="14" name="Shape 12"/>
          <p:cNvSpPr/>
          <p:nvPr/>
        </p:nvSpPr>
        <p:spPr>
          <a:xfrm>
            <a:off x="6035040" y="1261872"/>
            <a:ext cx="2651760" cy="822960"/>
          </a:xfrm>
          <a:prstGeom prst="rect">
            <a:avLst/>
          </a:prstGeom>
          <a:solidFill>
            <a:srgbClr val="F4F6F8"/>
          </a:solidFill>
          <a:ln w="12700">
            <a:solidFill>
              <a:srgbClr val="FFFFFF"/>
            </a:solidFill>
            <a:prstDash val="solid"/>
          </a:ln>
        </p:spPr>
      </p:sp>
      <p:sp>
        <p:nvSpPr>
          <p:cNvPr id="15" name="Shape 13"/>
          <p:cNvSpPr/>
          <p:nvPr/>
        </p:nvSpPr>
        <p:spPr>
          <a:xfrm>
            <a:off x="6035040" y="1261872"/>
            <a:ext cx="64008" cy="822960"/>
          </a:xfrm>
          <a:prstGeom prst="rect">
            <a:avLst/>
          </a:prstGeom>
          <a:solidFill>
            <a:srgbClr val="14A3A3"/>
          </a:solidFill>
          <a:ln/>
        </p:spPr>
      </p:sp>
      <p:sp>
        <p:nvSpPr>
          <p:cNvPr id="16" name="Text 14"/>
          <p:cNvSpPr txBox="1"/>
          <p:nvPr/>
        </p:nvSpPr>
        <p:spPr>
          <a:xfrm>
            <a:off x="621792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97.03%</a:t>
            </a:r>
            <a:endParaRPr lang="en-US" sz="2200" dirty="0"/>
          </a:p>
        </p:txBody>
      </p:sp>
      <p:sp>
        <p:nvSpPr>
          <p:cNvPr id="17" name="Text 15"/>
          <p:cNvSpPr txBox="1"/>
          <p:nvPr/>
        </p:nvSpPr>
        <p:spPr>
          <a:xfrm>
            <a:off x="621792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churn rate (only 3 retained)</a:t>
            </a:r>
            <a:endParaRPr lang="en-US" sz="1050" dirty="0"/>
          </a:p>
        </p:txBody>
      </p:sp>
      <p:graphicFrame>
        <p:nvGraphicFramePr>
          <p:cNvPr id="18" name="Chart 0" descr=""/>
          <p:cNvGraphicFramePr/>
          <p:nvPr/>
        </p:nvGraphicFramePr>
        <p:xfrm>
          <a:off x="457200" y="2194560"/>
          <a:ext cx="4937760" cy="17373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577840" y="2194560"/>
            <a:ext cx="31089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the data shows</a:t>
            </a:r>
            <a:endParaRPr lang="en-US" sz="1400" dirty="0"/>
          </a:p>
        </p:txBody>
      </p:sp>
      <p:sp>
        <p:nvSpPr>
          <p:cNvPr id="20" name="Text 17"/>
          <p:cNvSpPr txBox="1"/>
          <p:nvPr/>
        </p:nvSpPr>
        <p:spPr>
          <a:xfrm>
            <a:off x="5577840" y="2487168"/>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Almost no one in this segment stays</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Combines three risk factors: inactivity, 3+ products and high balance</a:t>
            </a:r>
            <a:endParaRPr lang="en-US" sz="1050" dirty="0"/>
          </a:p>
        </p:txBody>
      </p:sp>
      <p:sp>
        <p:nvSpPr>
          <p:cNvPr id="21" name="Shape 18"/>
          <p:cNvSpPr/>
          <p:nvPr/>
        </p:nvSpPr>
        <p:spPr>
          <a:xfrm>
            <a:off x="457200" y="3977640"/>
            <a:ext cx="8229600" cy="731520"/>
          </a:xfrm>
          <a:prstGeom prst="rect">
            <a:avLst/>
          </a:prstGeom>
          <a:solidFill>
            <a:srgbClr val="1F3A5F"/>
          </a:solidFill>
          <a:ln/>
        </p:spPr>
      </p:sp>
      <p:sp>
        <p:nvSpPr>
          <p:cNvPr id="22" name="Text 19"/>
          <p:cNvSpPr txBox="1"/>
          <p:nvPr/>
        </p:nvSpPr>
        <p:spPr>
          <a:xfrm>
            <a:off x="594360" y="3977640"/>
            <a:ext cx="7955280" cy="731520"/>
          </a:xfrm>
          <a:prstGeom prst="rect">
            <a:avLst/>
          </a:prstGeom>
          <a:noFill/>
          <a:ln/>
        </p:spPr>
        <p:txBody>
          <a:bodyPr wrap="square" lIns="0" tIns="0" rIns="0" bIns="0" rtlCol="0" anchor="ctr"/>
          <a:lstStyle/>
          <a:p>
            <a:pPr indent="0" marL="0">
              <a:buNone/>
            </a:pPr>
            <a:r>
              <a:rPr lang="en-US" sz="1100" b="1" dirty="0">
                <a:solidFill>
                  <a:srgbClr val="F28C28"/>
                </a:solidFill>
                <a:latin typeface="Calibri" pitchFamily="34" charset="0"/>
                <a:ea typeface="Calibri" pitchFamily="34" charset="-122"/>
                <a:cs typeface="Calibri" pitchFamily="34" charset="-120"/>
              </a:rPr>
              <a:t>Business impact:  </a:t>
            </a:r>
            <a:pPr indent="0" marL="0">
              <a:buNone/>
            </a:pPr>
            <a:r>
              <a:rPr lang="en-US" sz="1100" dirty="0">
                <a:solidFill>
                  <a:srgbClr val="FFFFFF"/>
                </a:solidFill>
                <a:latin typeface="Calibri" pitchFamily="34" charset="0"/>
                <a:ea typeface="Calibri" pitchFamily="34" charset="-122"/>
                <a:cs typeface="Calibri" pitchFamily="34" charset="-120"/>
              </a:rPr>
              <a:t>A small group, but it is nearly a certain loss of big balances. The bank must find out whether these customers were over-sold products they do not use.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Q4: Products vs Churn</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7/15</a:t>
            </a:r>
            <a:endParaRPr lang="en-US" sz="900" dirty="0"/>
          </a:p>
        </p:txBody>
      </p:sp>
      <p:sp>
        <p:nvSpPr>
          <p:cNvPr id="5" name="Text 3"/>
          <p:cNvSpPr txBox="1"/>
          <p:nvPr/>
        </p:nvSpPr>
        <p:spPr>
          <a:xfrm>
            <a:off x="457200" y="786384"/>
            <a:ext cx="8229600" cy="411480"/>
          </a:xfrm>
          <a:prstGeom prst="rect">
            <a:avLst/>
          </a:prstGeom>
          <a:noFill/>
          <a:ln/>
        </p:spPr>
        <p:txBody>
          <a:bodyPr wrap="square" lIns="0" tIns="0" rIns="0" bIns="0" rtlCol="0" anchor="ctr"/>
          <a:lstStyle/>
          <a:p>
            <a:pPr indent="0" marL="0">
              <a:buNone/>
            </a:pPr>
            <a:r>
              <a:rPr lang="en-US" sz="1100" i="1" dirty="0">
                <a:solidFill>
                  <a:srgbClr val="5B6770"/>
                </a:solidFill>
                <a:latin typeface="Calibri" pitchFamily="34" charset="0"/>
                <a:ea typeface="Calibri" pitchFamily="34" charset="-122"/>
                <a:cs typeface="Calibri" pitchFamily="34" charset="-120"/>
              </a:rPr>
              <a:t>What are the average credit score, average balance and churn count for customers segmented by number of products?</a:t>
            </a:r>
            <a:endParaRPr lang="en-US" sz="1100" dirty="0"/>
          </a:p>
        </p:txBody>
      </p:sp>
      <p:sp>
        <p:nvSpPr>
          <p:cNvPr id="6" name="Shape 4"/>
          <p:cNvSpPr/>
          <p:nvPr/>
        </p:nvSpPr>
        <p:spPr>
          <a:xfrm>
            <a:off x="457200" y="1261872"/>
            <a:ext cx="2651760" cy="822960"/>
          </a:xfrm>
          <a:prstGeom prst="rect">
            <a:avLst/>
          </a:prstGeom>
          <a:solidFill>
            <a:srgbClr val="F4F6F8"/>
          </a:solidFill>
          <a:ln w="12700">
            <a:solidFill>
              <a:srgbClr val="FFFFFF"/>
            </a:solidFill>
            <a:prstDash val="solid"/>
          </a:ln>
        </p:spPr>
      </p:sp>
      <p:sp>
        <p:nvSpPr>
          <p:cNvPr id="7" name="Shape 5"/>
          <p:cNvSpPr/>
          <p:nvPr/>
        </p:nvSpPr>
        <p:spPr>
          <a:xfrm>
            <a:off x="457200" y="1261872"/>
            <a:ext cx="64008" cy="822960"/>
          </a:xfrm>
          <a:prstGeom prst="rect">
            <a:avLst/>
          </a:prstGeom>
          <a:solidFill>
            <a:srgbClr val="14A3A3"/>
          </a:solidFill>
          <a:ln/>
        </p:spPr>
      </p:sp>
      <p:sp>
        <p:nvSpPr>
          <p:cNvPr id="8" name="Text 6"/>
          <p:cNvSpPr txBox="1"/>
          <p:nvPr/>
        </p:nvSpPr>
        <p:spPr>
          <a:xfrm>
            <a:off x="64008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82.7%</a:t>
            </a:r>
            <a:endParaRPr lang="en-US" sz="2200" dirty="0"/>
          </a:p>
        </p:txBody>
      </p:sp>
      <p:sp>
        <p:nvSpPr>
          <p:cNvPr id="9" name="Text 7"/>
          <p:cNvSpPr txBox="1"/>
          <p:nvPr/>
        </p:nvSpPr>
        <p:spPr>
          <a:xfrm>
            <a:off x="64008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churn at 3 products (220 of 266)</a:t>
            </a:r>
            <a:endParaRPr lang="en-US" sz="1050" dirty="0"/>
          </a:p>
        </p:txBody>
      </p:sp>
      <p:sp>
        <p:nvSpPr>
          <p:cNvPr id="10" name="Shape 8"/>
          <p:cNvSpPr/>
          <p:nvPr/>
        </p:nvSpPr>
        <p:spPr>
          <a:xfrm>
            <a:off x="3246120" y="1261872"/>
            <a:ext cx="2651760" cy="822960"/>
          </a:xfrm>
          <a:prstGeom prst="rect">
            <a:avLst/>
          </a:prstGeom>
          <a:solidFill>
            <a:srgbClr val="F4F6F8"/>
          </a:solidFill>
          <a:ln w="12700">
            <a:solidFill>
              <a:srgbClr val="FFFFFF"/>
            </a:solidFill>
            <a:prstDash val="solid"/>
          </a:ln>
        </p:spPr>
      </p:sp>
      <p:sp>
        <p:nvSpPr>
          <p:cNvPr id="11" name="Shape 9"/>
          <p:cNvSpPr/>
          <p:nvPr/>
        </p:nvSpPr>
        <p:spPr>
          <a:xfrm>
            <a:off x="3246120" y="1261872"/>
            <a:ext cx="64008" cy="822960"/>
          </a:xfrm>
          <a:prstGeom prst="rect">
            <a:avLst/>
          </a:prstGeom>
          <a:solidFill>
            <a:srgbClr val="F28C28"/>
          </a:solidFill>
          <a:ln/>
        </p:spPr>
      </p:sp>
      <p:sp>
        <p:nvSpPr>
          <p:cNvPr id="12" name="Text 10"/>
          <p:cNvSpPr txBox="1"/>
          <p:nvPr/>
        </p:nvSpPr>
        <p:spPr>
          <a:xfrm>
            <a:off x="342900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100%</a:t>
            </a:r>
            <a:endParaRPr lang="en-US" sz="2200" dirty="0"/>
          </a:p>
        </p:txBody>
      </p:sp>
      <p:sp>
        <p:nvSpPr>
          <p:cNvPr id="13" name="Text 11"/>
          <p:cNvSpPr txBox="1"/>
          <p:nvPr/>
        </p:nvSpPr>
        <p:spPr>
          <a:xfrm>
            <a:off x="342900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churn at 4 products (60 of 60)</a:t>
            </a:r>
            <a:endParaRPr lang="en-US" sz="1050" dirty="0"/>
          </a:p>
        </p:txBody>
      </p:sp>
      <p:sp>
        <p:nvSpPr>
          <p:cNvPr id="14" name="Shape 12"/>
          <p:cNvSpPr/>
          <p:nvPr/>
        </p:nvSpPr>
        <p:spPr>
          <a:xfrm>
            <a:off x="6035040" y="1261872"/>
            <a:ext cx="2651760" cy="822960"/>
          </a:xfrm>
          <a:prstGeom prst="rect">
            <a:avLst/>
          </a:prstGeom>
          <a:solidFill>
            <a:srgbClr val="F4F6F8"/>
          </a:solidFill>
          <a:ln w="12700">
            <a:solidFill>
              <a:srgbClr val="FFFFFF"/>
            </a:solidFill>
            <a:prstDash val="solid"/>
          </a:ln>
        </p:spPr>
      </p:sp>
      <p:sp>
        <p:nvSpPr>
          <p:cNvPr id="15" name="Shape 13"/>
          <p:cNvSpPr/>
          <p:nvPr/>
        </p:nvSpPr>
        <p:spPr>
          <a:xfrm>
            <a:off x="6035040" y="1261872"/>
            <a:ext cx="64008" cy="822960"/>
          </a:xfrm>
          <a:prstGeom prst="rect">
            <a:avLst/>
          </a:prstGeom>
          <a:solidFill>
            <a:srgbClr val="14A3A3"/>
          </a:solidFill>
          <a:ln/>
        </p:spPr>
      </p:sp>
      <p:sp>
        <p:nvSpPr>
          <p:cNvPr id="16" name="Text 14"/>
          <p:cNvSpPr txBox="1"/>
          <p:nvPr/>
        </p:nvSpPr>
        <p:spPr>
          <a:xfrm>
            <a:off x="621792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7.6%</a:t>
            </a:r>
            <a:endParaRPr lang="en-US" sz="2200" dirty="0"/>
          </a:p>
        </p:txBody>
      </p:sp>
      <p:sp>
        <p:nvSpPr>
          <p:cNvPr id="17" name="Text 15"/>
          <p:cNvSpPr txBox="1"/>
          <p:nvPr/>
        </p:nvSpPr>
        <p:spPr>
          <a:xfrm>
            <a:off x="621792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churn at 2 products, the best group</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4937760" cy="914400"/>
        </p:xfrm>
        <a:graphic>
          <a:graphicData uri="http://schemas.openxmlformats.org/drawingml/2006/table">
            <a:tbl>
              <a:tblPr/>
              <a:tblGrid>
                <a:gridCol w="822960"/>
                <a:gridCol w="1005840"/>
                <a:gridCol w="914400"/>
                <a:gridCol w="1005840"/>
                <a:gridCol w="1188720"/>
              </a:tblGrid>
              <a:tr h="24688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Products</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1F3A5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Customers</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1F3A5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Churned</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1F3A5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Avg score</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1F3A5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Avg balance</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1F3A5F"/>
                    </a:solidFill>
                  </a:tcPr>
                </a:tc>
              </a:tr>
              <a:tr h="246888">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5,084</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1,409</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649.1</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$98,552</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r>
              <a:tr h="246888">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4,590</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348</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652.2</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$51,879</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266</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220</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648.1</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$75,458</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r>
              <a:tr h="246888">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653.6</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$93,733</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9" name="Text 16"/>
          <p:cNvSpPr txBox="1"/>
          <p:nvPr/>
        </p:nvSpPr>
        <p:spPr>
          <a:xfrm>
            <a:off x="5577840" y="2194560"/>
            <a:ext cx="31089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the data shows</a:t>
            </a:r>
            <a:endParaRPr lang="en-US" sz="1400" dirty="0"/>
          </a:p>
        </p:txBody>
      </p:sp>
      <p:sp>
        <p:nvSpPr>
          <p:cNvPr id="20" name="Text 17"/>
          <p:cNvSpPr txBox="1"/>
          <p:nvPr/>
        </p:nvSpPr>
        <p:spPr>
          <a:xfrm>
            <a:off x="5577840" y="2487168"/>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2 products is the healthiest relationship</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3-4 products signals a problem</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Credit score is flat (about 650) so it does not explain churn</a:t>
            </a:r>
            <a:endParaRPr lang="en-US" sz="1050" dirty="0"/>
          </a:p>
        </p:txBody>
      </p:sp>
      <p:sp>
        <p:nvSpPr>
          <p:cNvPr id="21" name="Shape 18"/>
          <p:cNvSpPr/>
          <p:nvPr/>
        </p:nvSpPr>
        <p:spPr>
          <a:xfrm>
            <a:off x="457200" y="3977640"/>
            <a:ext cx="8229600" cy="731520"/>
          </a:xfrm>
          <a:prstGeom prst="rect">
            <a:avLst/>
          </a:prstGeom>
          <a:solidFill>
            <a:srgbClr val="1F3A5F"/>
          </a:solidFill>
          <a:ln/>
        </p:spPr>
      </p:sp>
      <p:sp>
        <p:nvSpPr>
          <p:cNvPr id="22" name="Text 19"/>
          <p:cNvSpPr txBox="1"/>
          <p:nvPr/>
        </p:nvSpPr>
        <p:spPr>
          <a:xfrm>
            <a:off x="594360" y="3977640"/>
            <a:ext cx="7955280" cy="731520"/>
          </a:xfrm>
          <a:prstGeom prst="rect">
            <a:avLst/>
          </a:prstGeom>
          <a:noFill/>
          <a:ln/>
        </p:spPr>
        <p:txBody>
          <a:bodyPr wrap="square" lIns="0" tIns="0" rIns="0" bIns="0" rtlCol="0" anchor="ctr"/>
          <a:lstStyle/>
          <a:p>
            <a:pPr indent="0" marL="0">
              <a:buNone/>
            </a:pPr>
            <a:r>
              <a:rPr lang="en-US" sz="1100" b="1" dirty="0">
                <a:solidFill>
                  <a:srgbClr val="F28C28"/>
                </a:solidFill>
                <a:latin typeface="Calibri" pitchFamily="34" charset="0"/>
                <a:ea typeface="Calibri" pitchFamily="34" charset="-122"/>
                <a:cs typeface="Calibri" pitchFamily="34" charset="-120"/>
              </a:rPr>
              <a:t>Business impact:  </a:t>
            </a:r>
            <a:pPr indent="0" marL="0">
              <a:buNone/>
            </a:pPr>
            <a:r>
              <a:rPr lang="en-US" sz="1100" dirty="0">
                <a:solidFill>
                  <a:srgbClr val="FFFFFF"/>
                </a:solidFill>
                <a:latin typeface="Calibri" pitchFamily="34" charset="0"/>
                <a:ea typeface="Calibri" pitchFamily="34" charset="-122"/>
                <a:cs typeface="Calibri" pitchFamily="34" charset="-120"/>
              </a:rPr>
              <a:t>Selling more products does not mean loyalty. Cross-sell strategy should target 2 products, and 3-4 product bundles need a pricing and service review.</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Q5: Loyalty Offer Targets</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8/15</a:t>
            </a:r>
            <a:endParaRPr lang="en-US" sz="900" dirty="0"/>
          </a:p>
        </p:txBody>
      </p:sp>
      <p:sp>
        <p:nvSpPr>
          <p:cNvPr id="5" name="Text 3"/>
          <p:cNvSpPr txBox="1"/>
          <p:nvPr/>
        </p:nvSpPr>
        <p:spPr>
          <a:xfrm>
            <a:off x="457200" y="786384"/>
            <a:ext cx="8229600" cy="411480"/>
          </a:xfrm>
          <a:prstGeom prst="rect">
            <a:avLst/>
          </a:prstGeom>
          <a:noFill/>
          <a:ln/>
        </p:spPr>
        <p:txBody>
          <a:bodyPr wrap="square" lIns="0" tIns="0" rIns="0" bIns="0" rtlCol="0" anchor="ctr"/>
          <a:lstStyle/>
          <a:p>
            <a:pPr indent="0" marL="0">
              <a:buNone/>
            </a:pPr>
            <a:r>
              <a:rPr lang="en-US" sz="1100" i="1" dirty="0">
                <a:solidFill>
                  <a:srgbClr val="5B6770"/>
                </a:solidFill>
                <a:latin typeface="Calibri" pitchFamily="34" charset="0"/>
                <a:ea typeface="Calibri" pitchFamily="34" charset="-122"/>
                <a:cs typeface="Calibri" pitchFamily="34" charset="-120"/>
              </a:rPr>
              <a:t>Who are the top 10 highest-earning active customers with a high balance who have not churned, for a loyalty offer?</a:t>
            </a:r>
            <a:endParaRPr lang="en-US" sz="1100" dirty="0"/>
          </a:p>
        </p:txBody>
      </p:sp>
      <p:sp>
        <p:nvSpPr>
          <p:cNvPr id="6" name="Shape 4"/>
          <p:cNvSpPr/>
          <p:nvPr/>
        </p:nvSpPr>
        <p:spPr>
          <a:xfrm>
            <a:off x="457200" y="1261872"/>
            <a:ext cx="2651760" cy="822960"/>
          </a:xfrm>
          <a:prstGeom prst="rect">
            <a:avLst/>
          </a:prstGeom>
          <a:solidFill>
            <a:srgbClr val="F4F6F8"/>
          </a:solidFill>
          <a:ln w="12700">
            <a:solidFill>
              <a:srgbClr val="FFFFFF"/>
            </a:solidFill>
            <a:prstDash val="solid"/>
          </a:ln>
        </p:spPr>
      </p:sp>
      <p:sp>
        <p:nvSpPr>
          <p:cNvPr id="7" name="Shape 5"/>
          <p:cNvSpPr/>
          <p:nvPr/>
        </p:nvSpPr>
        <p:spPr>
          <a:xfrm>
            <a:off x="457200" y="1261872"/>
            <a:ext cx="64008" cy="822960"/>
          </a:xfrm>
          <a:prstGeom prst="rect">
            <a:avLst/>
          </a:prstGeom>
          <a:solidFill>
            <a:srgbClr val="14A3A3"/>
          </a:solidFill>
          <a:ln/>
        </p:spPr>
      </p:sp>
      <p:sp>
        <p:nvSpPr>
          <p:cNvPr id="8" name="Text 6"/>
          <p:cNvSpPr txBox="1"/>
          <p:nvPr/>
        </p:nvSpPr>
        <p:spPr>
          <a:xfrm>
            <a:off x="64008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2,004</a:t>
            </a:r>
            <a:endParaRPr lang="en-US" sz="2200" dirty="0"/>
          </a:p>
        </p:txBody>
      </p:sp>
      <p:sp>
        <p:nvSpPr>
          <p:cNvPr id="9" name="Text 7"/>
          <p:cNvSpPr txBox="1"/>
          <p:nvPr/>
        </p:nvSpPr>
        <p:spPr>
          <a:xfrm>
            <a:off x="64008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eligible: active, retained, balance &gt;$100K</a:t>
            </a:r>
            <a:endParaRPr lang="en-US" sz="1050" dirty="0"/>
          </a:p>
        </p:txBody>
      </p:sp>
      <p:sp>
        <p:nvSpPr>
          <p:cNvPr id="10" name="Shape 8"/>
          <p:cNvSpPr/>
          <p:nvPr/>
        </p:nvSpPr>
        <p:spPr>
          <a:xfrm>
            <a:off x="3246120" y="1261872"/>
            <a:ext cx="2651760" cy="822960"/>
          </a:xfrm>
          <a:prstGeom prst="rect">
            <a:avLst/>
          </a:prstGeom>
          <a:solidFill>
            <a:srgbClr val="F4F6F8"/>
          </a:solidFill>
          <a:ln w="12700">
            <a:solidFill>
              <a:srgbClr val="FFFFFF"/>
            </a:solidFill>
            <a:prstDash val="solid"/>
          </a:ln>
        </p:spPr>
      </p:sp>
      <p:sp>
        <p:nvSpPr>
          <p:cNvPr id="11" name="Shape 9"/>
          <p:cNvSpPr/>
          <p:nvPr/>
        </p:nvSpPr>
        <p:spPr>
          <a:xfrm>
            <a:off x="3246120" y="1261872"/>
            <a:ext cx="64008" cy="822960"/>
          </a:xfrm>
          <a:prstGeom prst="rect">
            <a:avLst/>
          </a:prstGeom>
          <a:solidFill>
            <a:srgbClr val="F28C28"/>
          </a:solidFill>
          <a:ln/>
        </p:spPr>
      </p:sp>
      <p:sp>
        <p:nvSpPr>
          <p:cNvPr id="12" name="Text 10"/>
          <p:cNvSpPr txBox="1"/>
          <p:nvPr/>
        </p:nvSpPr>
        <p:spPr>
          <a:xfrm>
            <a:off x="342900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10</a:t>
            </a:r>
            <a:endParaRPr lang="en-US" sz="2200" dirty="0"/>
          </a:p>
        </p:txBody>
      </p:sp>
      <p:sp>
        <p:nvSpPr>
          <p:cNvPr id="13" name="Text 11"/>
          <p:cNvSpPr txBox="1"/>
          <p:nvPr/>
        </p:nvSpPr>
        <p:spPr>
          <a:xfrm>
            <a:off x="342900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customers on the loyalty-offer list</a:t>
            </a:r>
            <a:endParaRPr lang="en-US" sz="1050" dirty="0"/>
          </a:p>
        </p:txBody>
      </p:sp>
      <p:sp>
        <p:nvSpPr>
          <p:cNvPr id="14" name="Shape 12"/>
          <p:cNvSpPr/>
          <p:nvPr/>
        </p:nvSpPr>
        <p:spPr>
          <a:xfrm>
            <a:off x="6035040" y="1261872"/>
            <a:ext cx="2651760" cy="822960"/>
          </a:xfrm>
          <a:prstGeom prst="rect">
            <a:avLst/>
          </a:prstGeom>
          <a:solidFill>
            <a:srgbClr val="F4F6F8"/>
          </a:solidFill>
          <a:ln w="12700">
            <a:solidFill>
              <a:srgbClr val="FFFFFF"/>
            </a:solidFill>
            <a:prstDash val="solid"/>
          </a:ln>
        </p:spPr>
      </p:sp>
      <p:sp>
        <p:nvSpPr>
          <p:cNvPr id="15" name="Shape 13"/>
          <p:cNvSpPr/>
          <p:nvPr/>
        </p:nvSpPr>
        <p:spPr>
          <a:xfrm>
            <a:off x="6035040" y="1261872"/>
            <a:ext cx="64008" cy="822960"/>
          </a:xfrm>
          <a:prstGeom prst="rect">
            <a:avLst/>
          </a:prstGeom>
          <a:solidFill>
            <a:srgbClr val="14A3A3"/>
          </a:solidFill>
          <a:ln/>
        </p:spPr>
      </p:sp>
      <p:sp>
        <p:nvSpPr>
          <p:cNvPr id="16" name="Text 14"/>
          <p:cNvSpPr txBox="1"/>
          <p:nvPr/>
        </p:nvSpPr>
        <p:spPr>
          <a:xfrm>
            <a:off x="621792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~$199.4K</a:t>
            </a:r>
            <a:endParaRPr lang="en-US" sz="2200" dirty="0"/>
          </a:p>
        </p:txBody>
      </p:sp>
      <p:sp>
        <p:nvSpPr>
          <p:cNvPr id="17" name="Text 15"/>
          <p:cNvSpPr txBox="1"/>
          <p:nvPr/>
        </p:nvSpPr>
        <p:spPr>
          <a:xfrm>
            <a:off x="621792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average salary of the top 10</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4937760" cy="914400"/>
        </p:xfrm>
        <a:graphic>
          <a:graphicData uri="http://schemas.openxmlformats.org/drawingml/2006/table">
            <a:tbl>
              <a:tblPr/>
              <a:tblGrid>
                <a:gridCol w="1371600"/>
                <a:gridCol w="1097280"/>
                <a:gridCol w="1280160"/>
                <a:gridCol w="1188720"/>
              </a:tblGrid>
              <a:tr h="24688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Surname</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1F3A5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Country</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1F3A5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Balance</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1F3A5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Salary</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1F3A5F"/>
                    </a:solidFill>
                  </a:tcPr>
                </a:tc>
              </a:tr>
              <a:tr h="246888">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Gannon</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Spain</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$153,325</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$199,953</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r>
              <a:tr h="246888">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DeRose</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France</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$165,298</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$199,863</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Oluchukwu</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France</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$155,423</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$199,841</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r>
              <a:tr h="246888">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Ozerova</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France</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$147,651</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$199,675</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Sagese</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Germany</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$131,040</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c>
                  <a:txBody>
                    <a:bodyPr/>
                    <a:lstStyle/>
                    <a:p>
                      <a:pPr indent="0" marL="0">
                        <a:buNone/>
                      </a:pPr>
                      <a:r>
                        <a:rPr lang="en-US" sz="950" dirty="0">
                          <a:solidFill>
                            <a:srgbClr val="2B2B2B"/>
                          </a:solidFill>
                          <a:latin typeface="Calibri" pitchFamily="34" charset="0"/>
                          <a:ea typeface="Calibri" pitchFamily="34" charset="-122"/>
                          <a:cs typeface="Calibri" pitchFamily="34" charset="-120"/>
                        </a:rPr>
                        <a:t>$199,662</a:t>
                      </a:r>
                      <a:endParaRPr lang="en-US" sz="950" dirty="0">
                        <a:latin typeface="Calibri" charset="0"/>
                        <a:ea typeface="Calibri" charset="0"/>
                        <a:cs typeface="Calibri" charset="0"/>
                      </a:endParaRPr>
                    </a:p>
                  </a:txBody>
                  <a:tcPr marL="4572000" marR="4572000" marT="0" marB="0">
                    <a:lnL w="0" cap="flat" cmpd="sng" algn="ctr">
                      <a:noFill/>
                    </a:lnL>
                    <a:lnR w="0" cap="flat" cmpd="sng" algn="ctr">
                      <a:noFill/>
                    </a:lnR>
                    <a:lnT w="0" cap="flat" cmpd="sng" algn="ctr">
                      <a:noFill/>
                    </a:lnT>
                    <a:lnB w="0" cap="flat" cmpd="sng" algn="ctr">
                      <a:noFill/>
                    </a:lnB>
                    <a:solidFill>
                      <a:srgbClr val="F4F6F8"/>
                    </a:solidFill>
                  </a:tcPr>
                </a:tc>
              </a:tr>
            </a:tbl>
          </a:graphicData>
        </a:graphic>
      </p:graphicFrame>
      <p:sp>
        <p:nvSpPr>
          <p:cNvPr id="19" name="Text 16"/>
          <p:cNvSpPr txBox="1"/>
          <p:nvPr/>
        </p:nvSpPr>
        <p:spPr>
          <a:xfrm>
            <a:off x="5577840" y="2194560"/>
            <a:ext cx="31089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the data shows</a:t>
            </a:r>
            <a:endParaRPr lang="en-US" sz="1400" dirty="0"/>
          </a:p>
        </p:txBody>
      </p:sp>
      <p:sp>
        <p:nvSpPr>
          <p:cNvPr id="20" name="Text 17"/>
          <p:cNvSpPr txBox="1"/>
          <p:nvPr/>
        </p:nvSpPr>
        <p:spPr>
          <a:xfrm>
            <a:off x="5577840" y="2487168"/>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Top 10: 5 in France, 4 in Germany, 1 in Spain</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All have balances above $105K and salaries near $200K</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Showing the first 5 of 10</a:t>
            </a:r>
            <a:endParaRPr lang="en-US" sz="1050" dirty="0"/>
          </a:p>
        </p:txBody>
      </p:sp>
      <p:sp>
        <p:nvSpPr>
          <p:cNvPr id="21" name="Shape 18"/>
          <p:cNvSpPr/>
          <p:nvPr/>
        </p:nvSpPr>
        <p:spPr>
          <a:xfrm>
            <a:off x="457200" y="3977640"/>
            <a:ext cx="8229600" cy="731520"/>
          </a:xfrm>
          <a:prstGeom prst="rect">
            <a:avLst/>
          </a:prstGeom>
          <a:solidFill>
            <a:srgbClr val="1F3A5F"/>
          </a:solidFill>
          <a:ln/>
        </p:spPr>
      </p:sp>
      <p:sp>
        <p:nvSpPr>
          <p:cNvPr id="22" name="Text 19"/>
          <p:cNvSpPr txBox="1"/>
          <p:nvPr/>
        </p:nvSpPr>
        <p:spPr>
          <a:xfrm>
            <a:off x="594360" y="3977640"/>
            <a:ext cx="7955280" cy="731520"/>
          </a:xfrm>
          <a:prstGeom prst="rect">
            <a:avLst/>
          </a:prstGeom>
          <a:noFill/>
          <a:ln/>
        </p:spPr>
        <p:txBody>
          <a:bodyPr wrap="square" lIns="0" tIns="0" rIns="0" bIns="0" rtlCol="0" anchor="ctr"/>
          <a:lstStyle/>
          <a:p>
            <a:pPr indent="0" marL="0">
              <a:buNone/>
            </a:pPr>
            <a:r>
              <a:rPr lang="en-US" sz="1100" b="1" dirty="0">
                <a:solidFill>
                  <a:srgbClr val="F28C28"/>
                </a:solidFill>
                <a:latin typeface="Calibri" pitchFamily="34" charset="0"/>
                <a:ea typeface="Calibri" pitchFamily="34" charset="-122"/>
                <a:cs typeface="Calibri" pitchFamily="34" charset="-120"/>
              </a:rPr>
              <a:t>Business impact:  </a:t>
            </a:r>
            <a:pPr indent="0" marL="0">
              <a:buNone/>
            </a:pPr>
            <a:r>
              <a:rPr lang="en-US" sz="1100" dirty="0">
                <a:solidFill>
                  <a:srgbClr val="FFFFFF"/>
                </a:solidFill>
                <a:latin typeface="Calibri" pitchFamily="34" charset="0"/>
                <a:ea typeface="Calibri" pitchFamily="34" charset="-122"/>
                <a:cs typeface="Calibri" pitchFamily="34" charset="-120"/>
              </a:rPr>
              <a:t>Targeted offers for affluent, engaged customers protect the most valuable relationships at low cost, instead of discounting for everyone.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Q6: Credit Tier vs Early Churn</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9/15</a:t>
            </a:r>
            <a:endParaRPr lang="en-US" sz="900" dirty="0"/>
          </a:p>
        </p:txBody>
      </p:sp>
      <p:sp>
        <p:nvSpPr>
          <p:cNvPr id="5" name="Text 3"/>
          <p:cNvSpPr txBox="1"/>
          <p:nvPr/>
        </p:nvSpPr>
        <p:spPr>
          <a:xfrm>
            <a:off x="457200" y="786384"/>
            <a:ext cx="8229600" cy="411480"/>
          </a:xfrm>
          <a:prstGeom prst="rect">
            <a:avLst/>
          </a:prstGeom>
          <a:noFill/>
          <a:ln/>
        </p:spPr>
        <p:txBody>
          <a:bodyPr wrap="square" lIns="0" tIns="0" rIns="0" bIns="0" rtlCol="0" anchor="ctr"/>
          <a:lstStyle/>
          <a:p>
            <a:pPr indent="0" marL="0">
              <a:buNone/>
            </a:pPr>
            <a:r>
              <a:rPr lang="en-US" sz="1100" i="1" dirty="0">
                <a:solidFill>
                  <a:srgbClr val="5B6770"/>
                </a:solidFill>
                <a:latin typeface="Calibri" pitchFamily="34" charset="0"/>
                <a:ea typeface="Calibri" pitchFamily="34" charset="-122"/>
                <a:cs typeface="Calibri" pitchFamily="34" charset="-120"/>
              </a:rPr>
              <a:t>Which credit score tier has the highest churn rate among customers with tenure under 3 years?</a:t>
            </a:r>
            <a:endParaRPr lang="en-US" sz="1100" dirty="0"/>
          </a:p>
        </p:txBody>
      </p:sp>
      <p:sp>
        <p:nvSpPr>
          <p:cNvPr id="6" name="Shape 4"/>
          <p:cNvSpPr/>
          <p:nvPr/>
        </p:nvSpPr>
        <p:spPr>
          <a:xfrm>
            <a:off x="457200" y="1261872"/>
            <a:ext cx="2651760" cy="822960"/>
          </a:xfrm>
          <a:prstGeom prst="rect">
            <a:avLst/>
          </a:prstGeom>
          <a:solidFill>
            <a:srgbClr val="F4F6F8"/>
          </a:solidFill>
          <a:ln w="12700">
            <a:solidFill>
              <a:srgbClr val="FFFFFF"/>
            </a:solidFill>
            <a:prstDash val="solid"/>
          </a:ln>
        </p:spPr>
      </p:sp>
      <p:sp>
        <p:nvSpPr>
          <p:cNvPr id="7" name="Shape 5"/>
          <p:cNvSpPr/>
          <p:nvPr/>
        </p:nvSpPr>
        <p:spPr>
          <a:xfrm>
            <a:off x="457200" y="1261872"/>
            <a:ext cx="64008" cy="822960"/>
          </a:xfrm>
          <a:prstGeom prst="rect">
            <a:avLst/>
          </a:prstGeom>
          <a:solidFill>
            <a:srgbClr val="14A3A3"/>
          </a:solidFill>
          <a:ln/>
        </p:spPr>
      </p:sp>
      <p:sp>
        <p:nvSpPr>
          <p:cNvPr id="8" name="Text 6"/>
          <p:cNvSpPr txBox="1"/>
          <p:nvPr/>
        </p:nvSpPr>
        <p:spPr>
          <a:xfrm>
            <a:off x="64008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24.14%</a:t>
            </a:r>
            <a:endParaRPr lang="en-US" sz="2200" dirty="0"/>
          </a:p>
        </p:txBody>
      </p:sp>
      <p:sp>
        <p:nvSpPr>
          <p:cNvPr id="9" name="Text 7"/>
          <p:cNvSpPr txBox="1"/>
          <p:nvPr/>
        </p:nvSpPr>
        <p:spPr>
          <a:xfrm>
            <a:off x="64008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Poor tier (300-579), the highest</a:t>
            </a:r>
            <a:endParaRPr lang="en-US" sz="1050" dirty="0"/>
          </a:p>
        </p:txBody>
      </p:sp>
      <p:sp>
        <p:nvSpPr>
          <p:cNvPr id="10" name="Shape 8"/>
          <p:cNvSpPr/>
          <p:nvPr/>
        </p:nvSpPr>
        <p:spPr>
          <a:xfrm>
            <a:off x="3246120" y="1261872"/>
            <a:ext cx="2651760" cy="822960"/>
          </a:xfrm>
          <a:prstGeom prst="rect">
            <a:avLst/>
          </a:prstGeom>
          <a:solidFill>
            <a:srgbClr val="F4F6F8"/>
          </a:solidFill>
          <a:ln w="12700">
            <a:solidFill>
              <a:srgbClr val="FFFFFF"/>
            </a:solidFill>
            <a:prstDash val="solid"/>
          </a:ln>
        </p:spPr>
      </p:sp>
      <p:sp>
        <p:nvSpPr>
          <p:cNvPr id="11" name="Shape 9"/>
          <p:cNvSpPr/>
          <p:nvPr/>
        </p:nvSpPr>
        <p:spPr>
          <a:xfrm>
            <a:off x="3246120" y="1261872"/>
            <a:ext cx="64008" cy="822960"/>
          </a:xfrm>
          <a:prstGeom prst="rect">
            <a:avLst/>
          </a:prstGeom>
          <a:solidFill>
            <a:srgbClr val="F28C28"/>
          </a:solidFill>
          <a:ln/>
        </p:spPr>
      </p:sp>
      <p:sp>
        <p:nvSpPr>
          <p:cNvPr id="12" name="Text 10"/>
          <p:cNvSpPr txBox="1"/>
          <p:nvPr/>
        </p:nvSpPr>
        <p:spPr>
          <a:xfrm>
            <a:off x="342900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17.58%</a:t>
            </a:r>
            <a:endParaRPr lang="en-US" sz="2200" dirty="0"/>
          </a:p>
        </p:txBody>
      </p:sp>
      <p:sp>
        <p:nvSpPr>
          <p:cNvPr id="13" name="Text 11"/>
          <p:cNvSpPr txBox="1"/>
          <p:nvPr/>
        </p:nvSpPr>
        <p:spPr>
          <a:xfrm>
            <a:off x="342900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Excellent tier (800-850), the lowest</a:t>
            </a:r>
            <a:endParaRPr lang="en-US" sz="1050" dirty="0"/>
          </a:p>
        </p:txBody>
      </p:sp>
      <p:sp>
        <p:nvSpPr>
          <p:cNvPr id="14" name="Shape 12"/>
          <p:cNvSpPr/>
          <p:nvPr/>
        </p:nvSpPr>
        <p:spPr>
          <a:xfrm>
            <a:off x="6035040" y="1261872"/>
            <a:ext cx="2651760" cy="822960"/>
          </a:xfrm>
          <a:prstGeom prst="rect">
            <a:avLst/>
          </a:prstGeom>
          <a:solidFill>
            <a:srgbClr val="F4F6F8"/>
          </a:solidFill>
          <a:ln w="12700">
            <a:solidFill>
              <a:srgbClr val="FFFFFF"/>
            </a:solidFill>
            <a:prstDash val="solid"/>
          </a:ln>
        </p:spPr>
      </p:sp>
      <p:sp>
        <p:nvSpPr>
          <p:cNvPr id="15" name="Shape 13"/>
          <p:cNvSpPr/>
          <p:nvPr/>
        </p:nvSpPr>
        <p:spPr>
          <a:xfrm>
            <a:off x="6035040" y="1261872"/>
            <a:ext cx="64008" cy="822960"/>
          </a:xfrm>
          <a:prstGeom prst="rect">
            <a:avLst/>
          </a:prstGeom>
          <a:solidFill>
            <a:srgbClr val="14A3A3"/>
          </a:solidFill>
          <a:ln/>
        </p:spPr>
      </p:sp>
      <p:sp>
        <p:nvSpPr>
          <p:cNvPr id="16" name="Text 14"/>
          <p:cNvSpPr txBox="1"/>
          <p:nvPr/>
        </p:nvSpPr>
        <p:spPr>
          <a:xfrm>
            <a:off x="621792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2,496</a:t>
            </a:r>
            <a:endParaRPr lang="en-US" sz="2200" dirty="0"/>
          </a:p>
        </p:txBody>
      </p:sp>
      <p:sp>
        <p:nvSpPr>
          <p:cNvPr id="17" name="Text 15"/>
          <p:cNvSpPr txBox="1"/>
          <p:nvPr/>
        </p:nvSpPr>
        <p:spPr>
          <a:xfrm>
            <a:off x="621792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customers with tenure under 3 years</a:t>
            </a:r>
            <a:endParaRPr lang="en-US" sz="1050" dirty="0"/>
          </a:p>
        </p:txBody>
      </p:sp>
      <p:graphicFrame>
        <p:nvGraphicFramePr>
          <p:cNvPr id="18" name="Chart 0" descr=""/>
          <p:cNvGraphicFramePr/>
          <p:nvPr/>
        </p:nvGraphicFramePr>
        <p:xfrm>
          <a:off x="457200" y="2194560"/>
          <a:ext cx="4937760" cy="17373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577840" y="2194560"/>
            <a:ext cx="31089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the data shows</a:t>
            </a:r>
            <a:endParaRPr lang="en-US" sz="1400" dirty="0"/>
          </a:p>
        </p:txBody>
      </p:sp>
      <p:sp>
        <p:nvSpPr>
          <p:cNvPr id="20" name="Text 17"/>
          <p:cNvSpPr txBox="1"/>
          <p:nvPr/>
        </p:nvSpPr>
        <p:spPr>
          <a:xfrm>
            <a:off x="5577840" y="2487168"/>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Weakest credit tiers churn most</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The gap is only about 6.6 points, so credit score is a weak driver</a:t>
            </a:r>
            <a:endParaRPr lang="en-US" sz="1050" dirty="0"/>
          </a:p>
        </p:txBody>
      </p:sp>
      <p:sp>
        <p:nvSpPr>
          <p:cNvPr id="21" name="Shape 18"/>
          <p:cNvSpPr/>
          <p:nvPr/>
        </p:nvSpPr>
        <p:spPr>
          <a:xfrm>
            <a:off x="457200" y="3977640"/>
            <a:ext cx="8229600" cy="731520"/>
          </a:xfrm>
          <a:prstGeom prst="rect">
            <a:avLst/>
          </a:prstGeom>
          <a:solidFill>
            <a:srgbClr val="1F3A5F"/>
          </a:solidFill>
          <a:ln/>
        </p:spPr>
      </p:sp>
      <p:sp>
        <p:nvSpPr>
          <p:cNvPr id="22" name="Text 19"/>
          <p:cNvSpPr txBox="1"/>
          <p:nvPr/>
        </p:nvSpPr>
        <p:spPr>
          <a:xfrm>
            <a:off x="594360" y="3977640"/>
            <a:ext cx="7955280" cy="731520"/>
          </a:xfrm>
          <a:prstGeom prst="rect">
            <a:avLst/>
          </a:prstGeom>
          <a:noFill/>
          <a:ln/>
        </p:spPr>
        <p:txBody>
          <a:bodyPr wrap="square" lIns="0" tIns="0" rIns="0" bIns="0" rtlCol="0" anchor="ctr"/>
          <a:lstStyle/>
          <a:p>
            <a:pPr indent="0" marL="0">
              <a:buNone/>
            </a:pPr>
            <a:r>
              <a:rPr lang="en-US" sz="1100" b="1" dirty="0">
                <a:solidFill>
                  <a:srgbClr val="F28C28"/>
                </a:solidFill>
                <a:latin typeface="Calibri" pitchFamily="34" charset="0"/>
                <a:ea typeface="Calibri" pitchFamily="34" charset="-122"/>
                <a:cs typeface="Calibri" pitchFamily="34" charset="-120"/>
              </a:rPr>
              <a:t>Business impact:  </a:t>
            </a:r>
            <a:pPr indent="0" marL="0">
              <a:buNone/>
            </a:pPr>
            <a:r>
              <a:rPr lang="en-US" sz="1100" dirty="0">
                <a:solidFill>
                  <a:srgbClr val="FFFFFF"/>
                </a:solidFill>
                <a:latin typeface="Calibri" pitchFamily="34" charset="0"/>
                <a:ea typeface="Calibri" pitchFamily="34" charset="-122"/>
                <a:cs typeface="Calibri" pitchFamily="34" charset="-120"/>
              </a:rPr>
              <a:t>New customers with weak credit leave fastest. Onboarding support and credit-building products can reduce early exits, but credit score alone should not drive retention spend.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Q7: Capital Lost to Churn</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10/15</a:t>
            </a:r>
            <a:endParaRPr lang="en-US" sz="900" dirty="0"/>
          </a:p>
        </p:txBody>
      </p:sp>
      <p:sp>
        <p:nvSpPr>
          <p:cNvPr id="5" name="Text 3"/>
          <p:cNvSpPr txBox="1"/>
          <p:nvPr/>
        </p:nvSpPr>
        <p:spPr>
          <a:xfrm>
            <a:off x="457200" y="786384"/>
            <a:ext cx="8229600" cy="411480"/>
          </a:xfrm>
          <a:prstGeom prst="rect">
            <a:avLst/>
          </a:prstGeom>
          <a:noFill/>
          <a:ln/>
        </p:spPr>
        <p:txBody>
          <a:bodyPr wrap="square" lIns="0" tIns="0" rIns="0" bIns="0" rtlCol="0" anchor="ctr"/>
          <a:lstStyle/>
          <a:p>
            <a:pPr indent="0" marL="0">
              <a:buNone/>
            </a:pPr>
            <a:r>
              <a:rPr lang="en-US" sz="1100" i="1" dirty="0">
                <a:solidFill>
                  <a:srgbClr val="5B6770"/>
                </a:solidFill>
                <a:latin typeface="Calibri" pitchFamily="34" charset="0"/>
                <a:ea typeface="Calibri" pitchFamily="34" charset="-122"/>
                <a:cs typeface="Calibri" pitchFamily="34" charset="-120"/>
              </a:rPr>
              <a:t>How much total capital has the bank lost to churn, and how does a churner's average balance compare to a retainer's?</a:t>
            </a:r>
            <a:endParaRPr lang="en-US" sz="1100" dirty="0"/>
          </a:p>
        </p:txBody>
      </p:sp>
      <p:sp>
        <p:nvSpPr>
          <p:cNvPr id="6" name="Shape 4"/>
          <p:cNvSpPr/>
          <p:nvPr/>
        </p:nvSpPr>
        <p:spPr>
          <a:xfrm>
            <a:off x="457200" y="1261872"/>
            <a:ext cx="2651760" cy="822960"/>
          </a:xfrm>
          <a:prstGeom prst="rect">
            <a:avLst/>
          </a:prstGeom>
          <a:solidFill>
            <a:srgbClr val="F4F6F8"/>
          </a:solidFill>
          <a:ln w="12700">
            <a:solidFill>
              <a:srgbClr val="FFFFFF"/>
            </a:solidFill>
            <a:prstDash val="solid"/>
          </a:ln>
        </p:spPr>
      </p:sp>
      <p:sp>
        <p:nvSpPr>
          <p:cNvPr id="7" name="Shape 5"/>
          <p:cNvSpPr/>
          <p:nvPr/>
        </p:nvSpPr>
        <p:spPr>
          <a:xfrm>
            <a:off x="457200" y="1261872"/>
            <a:ext cx="64008" cy="822960"/>
          </a:xfrm>
          <a:prstGeom prst="rect">
            <a:avLst/>
          </a:prstGeom>
          <a:solidFill>
            <a:srgbClr val="14A3A3"/>
          </a:solidFill>
          <a:ln/>
        </p:spPr>
      </p:sp>
      <p:sp>
        <p:nvSpPr>
          <p:cNvPr id="8" name="Text 6"/>
          <p:cNvSpPr txBox="1"/>
          <p:nvPr/>
        </p:nvSpPr>
        <p:spPr>
          <a:xfrm>
            <a:off x="64008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$185.6M</a:t>
            </a:r>
            <a:endParaRPr lang="en-US" sz="2200" dirty="0"/>
          </a:p>
        </p:txBody>
      </p:sp>
      <p:sp>
        <p:nvSpPr>
          <p:cNvPr id="9" name="Text 7"/>
          <p:cNvSpPr txBox="1"/>
          <p:nvPr/>
        </p:nvSpPr>
        <p:spPr>
          <a:xfrm>
            <a:off x="64008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balance held by churned customers</a:t>
            </a:r>
            <a:endParaRPr lang="en-US" sz="1050" dirty="0"/>
          </a:p>
        </p:txBody>
      </p:sp>
      <p:sp>
        <p:nvSpPr>
          <p:cNvPr id="10" name="Shape 8"/>
          <p:cNvSpPr/>
          <p:nvPr/>
        </p:nvSpPr>
        <p:spPr>
          <a:xfrm>
            <a:off x="3246120" y="1261872"/>
            <a:ext cx="2651760" cy="822960"/>
          </a:xfrm>
          <a:prstGeom prst="rect">
            <a:avLst/>
          </a:prstGeom>
          <a:solidFill>
            <a:srgbClr val="F4F6F8"/>
          </a:solidFill>
          <a:ln w="12700">
            <a:solidFill>
              <a:srgbClr val="FFFFFF"/>
            </a:solidFill>
            <a:prstDash val="solid"/>
          </a:ln>
        </p:spPr>
      </p:sp>
      <p:sp>
        <p:nvSpPr>
          <p:cNvPr id="11" name="Shape 9"/>
          <p:cNvSpPr/>
          <p:nvPr/>
        </p:nvSpPr>
        <p:spPr>
          <a:xfrm>
            <a:off x="3246120" y="1261872"/>
            <a:ext cx="64008" cy="822960"/>
          </a:xfrm>
          <a:prstGeom prst="rect">
            <a:avLst/>
          </a:prstGeom>
          <a:solidFill>
            <a:srgbClr val="F28C28"/>
          </a:solidFill>
          <a:ln/>
        </p:spPr>
      </p:sp>
      <p:sp>
        <p:nvSpPr>
          <p:cNvPr id="12" name="Text 10"/>
          <p:cNvSpPr txBox="1"/>
          <p:nvPr/>
        </p:nvSpPr>
        <p:spPr>
          <a:xfrm>
            <a:off x="342900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$91.1K</a:t>
            </a:r>
            <a:endParaRPr lang="en-US" sz="2200" dirty="0"/>
          </a:p>
        </p:txBody>
      </p:sp>
      <p:sp>
        <p:nvSpPr>
          <p:cNvPr id="13" name="Text 11"/>
          <p:cNvSpPr txBox="1"/>
          <p:nvPr/>
        </p:nvSpPr>
        <p:spPr>
          <a:xfrm>
            <a:off x="342900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avg balance, churned customers</a:t>
            </a:r>
            <a:endParaRPr lang="en-US" sz="1050" dirty="0"/>
          </a:p>
        </p:txBody>
      </p:sp>
      <p:sp>
        <p:nvSpPr>
          <p:cNvPr id="14" name="Shape 12"/>
          <p:cNvSpPr/>
          <p:nvPr/>
        </p:nvSpPr>
        <p:spPr>
          <a:xfrm>
            <a:off x="6035040" y="1261872"/>
            <a:ext cx="2651760" cy="822960"/>
          </a:xfrm>
          <a:prstGeom prst="rect">
            <a:avLst/>
          </a:prstGeom>
          <a:solidFill>
            <a:srgbClr val="F4F6F8"/>
          </a:solidFill>
          <a:ln w="12700">
            <a:solidFill>
              <a:srgbClr val="FFFFFF"/>
            </a:solidFill>
            <a:prstDash val="solid"/>
          </a:ln>
        </p:spPr>
      </p:sp>
      <p:sp>
        <p:nvSpPr>
          <p:cNvPr id="15" name="Shape 13"/>
          <p:cNvSpPr/>
          <p:nvPr/>
        </p:nvSpPr>
        <p:spPr>
          <a:xfrm>
            <a:off x="6035040" y="1261872"/>
            <a:ext cx="64008" cy="822960"/>
          </a:xfrm>
          <a:prstGeom prst="rect">
            <a:avLst/>
          </a:prstGeom>
          <a:solidFill>
            <a:srgbClr val="14A3A3"/>
          </a:solidFill>
          <a:ln/>
        </p:spPr>
      </p:sp>
      <p:sp>
        <p:nvSpPr>
          <p:cNvPr id="16" name="Text 14"/>
          <p:cNvSpPr txBox="1"/>
          <p:nvPr/>
        </p:nvSpPr>
        <p:spPr>
          <a:xfrm>
            <a:off x="621792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$72.7K</a:t>
            </a:r>
            <a:endParaRPr lang="en-US" sz="2200" dirty="0"/>
          </a:p>
        </p:txBody>
      </p:sp>
      <p:sp>
        <p:nvSpPr>
          <p:cNvPr id="17" name="Text 15"/>
          <p:cNvSpPr txBox="1"/>
          <p:nvPr/>
        </p:nvSpPr>
        <p:spPr>
          <a:xfrm>
            <a:off x="621792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avg balance, retained customers</a:t>
            </a:r>
            <a:endParaRPr lang="en-US" sz="1050" dirty="0"/>
          </a:p>
        </p:txBody>
      </p:sp>
      <p:graphicFrame>
        <p:nvGraphicFramePr>
          <p:cNvPr id="18" name="Chart 0" descr=""/>
          <p:cNvGraphicFramePr/>
          <p:nvPr/>
        </p:nvGraphicFramePr>
        <p:xfrm>
          <a:off x="457200" y="2194560"/>
          <a:ext cx="4937760" cy="17373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577840" y="2194560"/>
            <a:ext cx="31089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the data shows</a:t>
            </a:r>
            <a:endParaRPr lang="en-US" sz="1400" dirty="0"/>
          </a:p>
        </p:txBody>
      </p:sp>
      <p:sp>
        <p:nvSpPr>
          <p:cNvPr id="20" name="Text 17"/>
          <p:cNvSpPr txBox="1"/>
          <p:nvPr/>
        </p:nvSpPr>
        <p:spPr>
          <a:xfrm>
            <a:off x="5577840" y="2487168"/>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Churned customers hold 25% more on average</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Churn took about 24% of all balances ($185.6M of $764.9M)</a:t>
            </a:r>
            <a:endParaRPr lang="en-US" sz="1050" dirty="0"/>
          </a:p>
        </p:txBody>
      </p:sp>
      <p:sp>
        <p:nvSpPr>
          <p:cNvPr id="21" name="Shape 18"/>
          <p:cNvSpPr/>
          <p:nvPr/>
        </p:nvSpPr>
        <p:spPr>
          <a:xfrm>
            <a:off x="457200" y="3977640"/>
            <a:ext cx="8229600" cy="731520"/>
          </a:xfrm>
          <a:prstGeom prst="rect">
            <a:avLst/>
          </a:prstGeom>
          <a:solidFill>
            <a:srgbClr val="1F3A5F"/>
          </a:solidFill>
          <a:ln/>
        </p:spPr>
      </p:sp>
      <p:sp>
        <p:nvSpPr>
          <p:cNvPr id="22" name="Text 19"/>
          <p:cNvSpPr txBox="1"/>
          <p:nvPr/>
        </p:nvSpPr>
        <p:spPr>
          <a:xfrm>
            <a:off x="594360" y="3977640"/>
            <a:ext cx="7955280" cy="731520"/>
          </a:xfrm>
          <a:prstGeom prst="rect">
            <a:avLst/>
          </a:prstGeom>
          <a:noFill/>
          <a:ln/>
        </p:spPr>
        <p:txBody>
          <a:bodyPr wrap="square" lIns="0" tIns="0" rIns="0" bIns="0" rtlCol="0" anchor="ctr"/>
          <a:lstStyle/>
          <a:p>
            <a:pPr indent="0" marL="0">
              <a:buNone/>
            </a:pPr>
            <a:r>
              <a:rPr lang="en-US" sz="1100" b="1" dirty="0">
                <a:solidFill>
                  <a:srgbClr val="F28C28"/>
                </a:solidFill>
                <a:latin typeface="Calibri" pitchFamily="34" charset="0"/>
                <a:ea typeface="Calibri" pitchFamily="34" charset="-122"/>
                <a:cs typeface="Calibri" pitchFamily="34" charset="-120"/>
              </a:rPr>
              <a:t>Business impact:  </a:t>
            </a:r>
            <a:pPr indent="0" marL="0">
              <a:buNone/>
            </a:pPr>
            <a:r>
              <a:rPr lang="en-US" sz="1100" dirty="0">
                <a:solidFill>
                  <a:srgbClr val="FFFFFF"/>
                </a:solidFill>
                <a:latin typeface="Calibri" pitchFamily="34" charset="0"/>
                <a:ea typeface="Calibri" pitchFamily="34" charset="-122"/>
                <a:cs typeface="Calibri" pitchFamily="34" charset="-120"/>
              </a:rPr>
              <a:t>Churn is a bigger financial loss than the 20% headcount suggests, because leavers are richer than average. Retention spend is easily justified by deposit value.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Q8: Credit Card vs Engagement</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11/15</a:t>
            </a:r>
            <a:endParaRPr lang="en-US" sz="900" dirty="0"/>
          </a:p>
        </p:txBody>
      </p:sp>
      <p:sp>
        <p:nvSpPr>
          <p:cNvPr id="5" name="Text 3"/>
          <p:cNvSpPr txBox="1"/>
          <p:nvPr/>
        </p:nvSpPr>
        <p:spPr>
          <a:xfrm>
            <a:off x="457200" y="786384"/>
            <a:ext cx="8229600" cy="411480"/>
          </a:xfrm>
          <a:prstGeom prst="rect">
            <a:avLst/>
          </a:prstGeom>
          <a:noFill/>
          <a:ln/>
        </p:spPr>
        <p:txBody>
          <a:bodyPr wrap="square" lIns="0" tIns="0" rIns="0" bIns="0" rtlCol="0" anchor="ctr"/>
          <a:lstStyle/>
          <a:p>
            <a:pPr indent="0" marL="0">
              <a:buNone/>
            </a:pPr>
            <a:r>
              <a:rPr lang="en-US" sz="1100" i="1" dirty="0">
                <a:solidFill>
                  <a:srgbClr val="5B6770"/>
                </a:solidFill>
                <a:latin typeface="Calibri" pitchFamily="34" charset="0"/>
                <a:ea typeface="Calibri" pitchFamily="34" charset="-122"/>
                <a:cs typeface="Calibri" pitchFamily="34" charset="-120"/>
              </a:rPr>
              <a:t>Does owning a credit card improve customer activity? What percentage of active members hold a card vs not?</a:t>
            </a:r>
            <a:endParaRPr lang="en-US" sz="1100" dirty="0"/>
          </a:p>
        </p:txBody>
      </p:sp>
      <p:sp>
        <p:nvSpPr>
          <p:cNvPr id="6" name="Shape 4"/>
          <p:cNvSpPr/>
          <p:nvPr/>
        </p:nvSpPr>
        <p:spPr>
          <a:xfrm>
            <a:off x="457200" y="1261872"/>
            <a:ext cx="2651760" cy="822960"/>
          </a:xfrm>
          <a:prstGeom prst="rect">
            <a:avLst/>
          </a:prstGeom>
          <a:solidFill>
            <a:srgbClr val="F4F6F8"/>
          </a:solidFill>
          <a:ln w="12700">
            <a:solidFill>
              <a:srgbClr val="FFFFFF"/>
            </a:solidFill>
            <a:prstDash val="solid"/>
          </a:ln>
        </p:spPr>
      </p:sp>
      <p:sp>
        <p:nvSpPr>
          <p:cNvPr id="7" name="Shape 5"/>
          <p:cNvSpPr/>
          <p:nvPr/>
        </p:nvSpPr>
        <p:spPr>
          <a:xfrm>
            <a:off x="457200" y="1261872"/>
            <a:ext cx="64008" cy="822960"/>
          </a:xfrm>
          <a:prstGeom prst="rect">
            <a:avLst/>
          </a:prstGeom>
          <a:solidFill>
            <a:srgbClr val="14A3A3"/>
          </a:solidFill>
          <a:ln/>
        </p:spPr>
      </p:sp>
      <p:sp>
        <p:nvSpPr>
          <p:cNvPr id="8" name="Text 6"/>
          <p:cNvSpPr txBox="1"/>
          <p:nvPr/>
        </p:nvSpPr>
        <p:spPr>
          <a:xfrm>
            <a:off x="64008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51.13%</a:t>
            </a:r>
            <a:endParaRPr lang="en-US" sz="2200" dirty="0"/>
          </a:p>
        </p:txBody>
      </p:sp>
      <p:sp>
        <p:nvSpPr>
          <p:cNvPr id="9" name="Text 7"/>
          <p:cNvSpPr txBox="1"/>
          <p:nvPr/>
        </p:nvSpPr>
        <p:spPr>
          <a:xfrm>
            <a:off x="64008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active among card holders (3,607 of 7,055)</a:t>
            </a:r>
            <a:endParaRPr lang="en-US" sz="1050" dirty="0"/>
          </a:p>
        </p:txBody>
      </p:sp>
      <p:sp>
        <p:nvSpPr>
          <p:cNvPr id="10" name="Shape 8"/>
          <p:cNvSpPr/>
          <p:nvPr/>
        </p:nvSpPr>
        <p:spPr>
          <a:xfrm>
            <a:off x="3246120" y="1261872"/>
            <a:ext cx="2651760" cy="822960"/>
          </a:xfrm>
          <a:prstGeom prst="rect">
            <a:avLst/>
          </a:prstGeom>
          <a:solidFill>
            <a:srgbClr val="F4F6F8"/>
          </a:solidFill>
          <a:ln w="12700">
            <a:solidFill>
              <a:srgbClr val="FFFFFF"/>
            </a:solidFill>
            <a:prstDash val="solid"/>
          </a:ln>
        </p:spPr>
      </p:sp>
      <p:sp>
        <p:nvSpPr>
          <p:cNvPr id="11" name="Shape 9"/>
          <p:cNvSpPr/>
          <p:nvPr/>
        </p:nvSpPr>
        <p:spPr>
          <a:xfrm>
            <a:off x="3246120" y="1261872"/>
            <a:ext cx="64008" cy="822960"/>
          </a:xfrm>
          <a:prstGeom prst="rect">
            <a:avLst/>
          </a:prstGeom>
          <a:solidFill>
            <a:srgbClr val="F28C28"/>
          </a:solidFill>
          <a:ln/>
        </p:spPr>
      </p:sp>
      <p:sp>
        <p:nvSpPr>
          <p:cNvPr id="12" name="Text 10"/>
          <p:cNvSpPr txBox="1"/>
          <p:nvPr/>
        </p:nvSpPr>
        <p:spPr>
          <a:xfrm>
            <a:off x="342900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52.43%</a:t>
            </a:r>
            <a:endParaRPr lang="en-US" sz="2200" dirty="0"/>
          </a:p>
        </p:txBody>
      </p:sp>
      <p:sp>
        <p:nvSpPr>
          <p:cNvPr id="13" name="Text 11"/>
          <p:cNvSpPr txBox="1"/>
          <p:nvPr/>
        </p:nvSpPr>
        <p:spPr>
          <a:xfrm>
            <a:off x="342900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active among non-holders (1,544 of 2,945)</a:t>
            </a:r>
            <a:endParaRPr lang="en-US" sz="1050" dirty="0"/>
          </a:p>
        </p:txBody>
      </p:sp>
      <p:sp>
        <p:nvSpPr>
          <p:cNvPr id="14" name="Shape 12"/>
          <p:cNvSpPr/>
          <p:nvPr/>
        </p:nvSpPr>
        <p:spPr>
          <a:xfrm>
            <a:off x="6035040" y="1261872"/>
            <a:ext cx="2651760" cy="822960"/>
          </a:xfrm>
          <a:prstGeom prst="rect">
            <a:avLst/>
          </a:prstGeom>
          <a:solidFill>
            <a:srgbClr val="F4F6F8"/>
          </a:solidFill>
          <a:ln w="12700">
            <a:solidFill>
              <a:srgbClr val="FFFFFF"/>
            </a:solidFill>
            <a:prstDash val="solid"/>
          </a:ln>
        </p:spPr>
      </p:sp>
      <p:sp>
        <p:nvSpPr>
          <p:cNvPr id="15" name="Shape 13"/>
          <p:cNvSpPr/>
          <p:nvPr/>
        </p:nvSpPr>
        <p:spPr>
          <a:xfrm>
            <a:off x="6035040" y="1261872"/>
            <a:ext cx="64008" cy="822960"/>
          </a:xfrm>
          <a:prstGeom prst="rect">
            <a:avLst/>
          </a:prstGeom>
          <a:solidFill>
            <a:srgbClr val="14A3A3"/>
          </a:solidFill>
          <a:ln/>
        </p:spPr>
      </p:sp>
      <p:sp>
        <p:nvSpPr>
          <p:cNvPr id="16" name="Text 14"/>
          <p:cNvSpPr txBox="1"/>
          <p:nvPr/>
        </p:nvSpPr>
        <p:spPr>
          <a:xfrm>
            <a:off x="621792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-1.3 pts</a:t>
            </a:r>
            <a:endParaRPr lang="en-US" sz="2200" dirty="0"/>
          </a:p>
        </p:txBody>
      </p:sp>
      <p:sp>
        <p:nvSpPr>
          <p:cNvPr id="17" name="Text 15"/>
          <p:cNvSpPr txBox="1"/>
          <p:nvPr/>
        </p:nvSpPr>
        <p:spPr>
          <a:xfrm>
            <a:off x="621792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difference: no real benefit</a:t>
            </a:r>
            <a:endParaRPr lang="en-US" sz="1050" dirty="0"/>
          </a:p>
        </p:txBody>
      </p:sp>
      <p:graphicFrame>
        <p:nvGraphicFramePr>
          <p:cNvPr id="18" name="Chart 0" descr=""/>
          <p:cNvGraphicFramePr/>
          <p:nvPr/>
        </p:nvGraphicFramePr>
        <p:xfrm>
          <a:off x="457200" y="2194560"/>
          <a:ext cx="4937760" cy="17373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577840" y="2194560"/>
            <a:ext cx="31089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the data shows</a:t>
            </a:r>
            <a:endParaRPr lang="en-US" sz="1400" dirty="0"/>
          </a:p>
        </p:txBody>
      </p:sp>
      <p:sp>
        <p:nvSpPr>
          <p:cNvPr id="20" name="Text 17"/>
          <p:cNvSpPr txBox="1"/>
          <p:nvPr/>
        </p:nvSpPr>
        <p:spPr>
          <a:xfrm>
            <a:off x="5577840" y="2487168"/>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Credit card ownership does not raise activity</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Only about half of all customers are active</a:t>
            </a:r>
            <a:endParaRPr lang="en-US" sz="1050" dirty="0"/>
          </a:p>
        </p:txBody>
      </p:sp>
      <p:sp>
        <p:nvSpPr>
          <p:cNvPr id="21" name="Shape 18"/>
          <p:cNvSpPr/>
          <p:nvPr/>
        </p:nvSpPr>
        <p:spPr>
          <a:xfrm>
            <a:off x="457200" y="3977640"/>
            <a:ext cx="8229600" cy="731520"/>
          </a:xfrm>
          <a:prstGeom prst="rect">
            <a:avLst/>
          </a:prstGeom>
          <a:solidFill>
            <a:srgbClr val="1F3A5F"/>
          </a:solidFill>
          <a:ln/>
        </p:spPr>
      </p:sp>
      <p:sp>
        <p:nvSpPr>
          <p:cNvPr id="22" name="Text 19"/>
          <p:cNvSpPr txBox="1"/>
          <p:nvPr/>
        </p:nvSpPr>
        <p:spPr>
          <a:xfrm>
            <a:off x="594360" y="3977640"/>
            <a:ext cx="7955280" cy="731520"/>
          </a:xfrm>
          <a:prstGeom prst="rect">
            <a:avLst/>
          </a:prstGeom>
          <a:noFill/>
          <a:ln/>
        </p:spPr>
        <p:txBody>
          <a:bodyPr wrap="square" lIns="0" tIns="0" rIns="0" bIns="0" rtlCol="0" anchor="ctr"/>
          <a:lstStyle/>
          <a:p>
            <a:pPr indent="0" marL="0">
              <a:buNone/>
            </a:pPr>
            <a:r>
              <a:rPr lang="en-US" sz="1100" b="1" dirty="0">
                <a:solidFill>
                  <a:srgbClr val="F28C28"/>
                </a:solidFill>
                <a:latin typeface="Calibri" pitchFamily="34" charset="0"/>
                <a:ea typeface="Calibri" pitchFamily="34" charset="-122"/>
                <a:cs typeface="Calibri" pitchFamily="34" charset="-120"/>
              </a:rPr>
              <a:t>Business impact:  </a:t>
            </a:r>
            <a:pPr indent="0" marL="0">
              <a:buNone/>
            </a:pPr>
            <a:r>
              <a:rPr lang="en-US" sz="1100" dirty="0">
                <a:solidFill>
                  <a:srgbClr val="FFFFFF"/>
                </a:solidFill>
                <a:latin typeface="Calibri" pitchFamily="34" charset="0"/>
                <a:ea typeface="Calibri" pitchFamily="34" charset="-122"/>
                <a:cs typeface="Calibri" pitchFamily="34" charset="-120"/>
              </a:rPr>
              <a:t>Pushing credit cards will not fix engagement. The bank should find other activity levers, since nearly half of customers are inactive and therefore at higher risk.</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Q9: High Earners, Zero Balance</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12/15</a:t>
            </a:r>
            <a:endParaRPr lang="en-US" sz="900" dirty="0"/>
          </a:p>
        </p:txBody>
      </p:sp>
      <p:sp>
        <p:nvSpPr>
          <p:cNvPr id="5" name="Text 3"/>
          <p:cNvSpPr txBox="1"/>
          <p:nvPr/>
        </p:nvSpPr>
        <p:spPr>
          <a:xfrm>
            <a:off x="457200" y="786384"/>
            <a:ext cx="8229600" cy="411480"/>
          </a:xfrm>
          <a:prstGeom prst="rect">
            <a:avLst/>
          </a:prstGeom>
          <a:noFill/>
          <a:ln/>
        </p:spPr>
        <p:txBody>
          <a:bodyPr wrap="square" lIns="0" tIns="0" rIns="0" bIns="0" rtlCol="0" anchor="ctr"/>
          <a:lstStyle/>
          <a:p>
            <a:pPr indent="0" marL="0">
              <a:buNone/>
            </a:pPr>
            <a:r>
              <a:rPr lang="en-US" sz="1100" i="1" dirty="0">
                <a:solidFill>
                  <a:srgbClr val="5B6770"/>
                </a:solidFill>
                <a:latin typeface="Calibri" pitchFamily="34" charset="0"/>
                <a:ea typeface="Calibri" pitchFamily="34" charset="-122"/>
                <a:cs typeface="Calibri" pitchFamily="34" charset="-120"/>
              </a:rPr>
              <a:t>How many customers earn above $100K but hold a $0 balance, and what percentage of them have exited?</a:t>
            </a:r>
            <a:endParaRPr lang="en-US" sz="1100" dirty="0"/>
          </a:p>
        </p:txBody>
      </p:sp>
      <p:sp>
        <p:nvSpPr>
          <p:cNvPr id="6" name="Shape 4"/>
          <p:cNvSpPr/>
          <p:nvPr/>
        </p:nvSpPr>
        <p:spPr>
          <a:xfrm>
            <a:off x="457200" y="1261872"/>
            <a:ext cx="2651760" cy="822960"/>
          </a:xfrm>
          <a:prstGeom prst="rect">
            <a:avLst/>
          </a:prstGeom>
          <a:solidFill>
            <a:srgbClr val="F4F6F8"/>
          </a:solidFill>
          <a:ln w="12700">
            <a:solidFill>
              <a:srgbClr val="FFFFFF"/>
            </a:solidFill>
            <a:prstDash val="solid"/>
          </a:ln>
        </p:spPr>
      </p:sp>
      <p:sp>
        <p:nvSpPr>
          <p:cNvPr id="7" name="Shape 5"/>
          <p:cNvSpPr/>
          <p:nvPr/>
        </p:nvSpPr>
        <p:spPr>
          <a:xfrm>
            <a:off x="457200" y="1261872"/>
            <a:ext cx="64008" cy="822960"/>
          </a:xfrm>
          <a:prstGeom prst="rect">
            <a:avLst/>
          </a:prstGeom>
          <a:solidFill>
            <a:srgbClr val="14A3A3"/>
          </a:solidFill>
          <a:ln/>
        </p:spPr>
      </p:sp>
      <p:sp>
        <p:nvSpPr>
          <p:cNvPr id="8" name="Text 6"/>
          <p:cNvSpPr txBox="1"/>
          <p:nvPr/>
        </p:nvSpPr>
        <p:spPr>
          <a:xfrm>
            <a:off x="64008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1,781</a:t>
            </a:r>
            <a:endParaRPr lang="en-US" sz="2200" dirty="0"/>
          </a:p>
        </p:txBody>
      </p:sp>
      <p:sp>
        <p:nvSpPr>
          <p:cNvPr id="9" name="Text 7"/>
          <p:cNvSpPr txBox="1"/>
          <p:nvPr/>
        </p:nvSpPr>
        <p:spPr>
          <a:xfrm>
            <a:off x="64008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high earners with $0 balance</a:t>
            </a:r>
            <a:endParaRPr lang="en-US" sz="1050" dirty="0"/>
          </a:p>
        </p:txBody>
      </p:sp>
      <p:sp>
        <p:nvSpPr>
          <p:cNvPr id="10" name="Shape 8"/>
          <p:cNvSpPr/>
          <p:nvPr/>
        </p:nvSpPr>
        <p:spPr>
          <a:xfrm>
            <a:off x="3246120" y="1261872"/>
            <a:ext cx="2651760" cy="822960"/>
          </a:xfrm>
          <a:prstGeom prst="rect">
            <a:avLst/>
          </a:prstGeom>
          <a:solidFill>
            <a:srgbClr val="F4F6F8"/>
          </a:solidFill>
          <a:ln w="12700">
            <a:solidFill>
              <a:srgbClr val="FFFFFF"/>
            </a:solidFill>
            <a:prstDash val="solid"/>
          </a:ln>
        </p:spPr>
      </p:sp>
      <p:sp>
        <p:nvSpPr>
          <p:cNvPr id="11" name="Shape 9"/>
          <p:cNvSpPr/>
          <p:nvPr/>
        </p:nvSpPr>
        <p:spPr>
          <a:xfrm>
            <a:off x="3246120" y="1261872"/>
            <a:ext cx="64008" cy="822960"/>
          </a:xfrm>
          <a:prstGeom prst="rect">
            <a:avLst/>
          </a:prstGeom>
          <a:solidFill>
            <a:srgbClr val="F28C28"/>
          </a:solidFill>
          <a:ln/>
        </p:spPr>
      </p:sp>
      <p:sp>
        <p:nvSpPr>
          <p:cNvPr id="12" name="Text 10"/>
          <p:cNvSpPr txBox="1"/>
          <p:nvPr/>
        </p:nvSpPr>
        <p:spPr>
          <a:xfrm>
            <a:off x="342900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256</a:t>
            </a:r>
            <a:endParaRPr lang="en-US" sz="2200" dirty="0"/>
          </a:p>
        </p:txBody>
      </p:sp>
      <p:sp>
        <p:nvSpPr>
          <p:cNvPr id="13" name="Text 11"/>
          <p:cNvSpPr txBox="1"/>
          <p:nvPr/>
        </p:nvSpPr>
        <p:spPr>
          <a:xfrm>
            <a:off x="342900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churned</a:t>
            </a:r>
            <a:endParaRPr lang="en-US" sz="1050" dirty="0"/>
          </a:p>
        </p:txBody>
      </p:sp>
      <p:sp>
        <p:nvSpPr>
          <p:cNvPr id="14" name="Shape 12"/>
          <p:cNvSpPr/>
          <p:nvPr/>
        </p:nvSpPr>
        <p:spPr>
          <a:xfrm>
            <a:off x="6035040" y="1261872"/>
            <a:ext cx="2651760" cy="822960"/>
          </a:xfrm>
          <a:prstGeom prst="rect">
            <a:avLst/>
          </a:prstGeom>
          <a:solidFill>
            <a:srgbClr val="F4F6F8"/>
          </a:solidFill>
          <a:ln w="12700">
            <a:solidFill>
              <a:srgbClr val="FFFFFF"/>
            </a:solidFill>
            <a:prstDash val="solid"/>
          </a:ln>
        </p:spPr>
      </p:sp>
      <p:sp>
        <p:nvSpPr>
          <p:cNvPr id="15" name="Shape 13"/>
          <p:cNvSpPr/>
          <p:nvPr/>
        </p:nvSpPr>
        <p:spPr>
          <a:xfrm>
            <a:off x="6035040" y="1261872"/>
            <a:ext cx="64008" cy="822960"/>
          </a:xfrm>
          <a:prstGeom prst="rect">
            <a:avLst/>
          </a:prstGeom>
          <a:solidFill>
            <a:srgbClr val="14A3A3"/>
          </a:solidFill>
          <a:ln/>
        </p:spPr>
      </p:sp>
      <p:sp>
        <p:nvSpPr>
          <p:cNvPr id="16" name="Text 14"/>
          <p:cNvSpPr txBox="1"/>
          <p:nvPr/>
        </p:nvSpPr>
        <p:spPr>
          <a:xfrm>
            <a:off x="621792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14.37%</a:t>
            </a:r>
            <a:endParaRPr lang="en-US" sz="2200" dirty="0"/>
          </a:p>
        </p:txBody>
      </p:sp>
      <p:sp>
        <p:nvSpPr>
          <p:cNvPr id="17" name="Text 15"/>
          <p:cNvSpPr txBox="1"/>
          <p:nvPr/>
        </p:nvSpPr>
        <p:spPr>
          <a:xfrm>
            <a:off x="621792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churn rate</a:t>
            </a:r>
            <a:endParaRPr lang="en-US" sz="1050" dirty="0"/>
          </a:p>
        </p:txBody>
      </p:sp>
      <p:graphicFrame>
        <p:nvGraphicFramePr>
          <p:cNvPr id="18" name="Chart 0" descr=""/>
          <p:cNvGraphicFramePr/>
          <p:nvPr/>
        </p:nvGraphicFramePr>
        <p:xfrm>
          <a:off x="457200" y="2194560"/>
          <a:ext cx="4937760" cy="17373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577840" y="2194560"/>
            <a:ext cx="31089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the data shows</a:t>
            </a:r>
            <a:endParaRPr lang="en-US" sz="1400" dirty="0"/>
          </a:p>
        </p:txBody>
      </p:sp>
      <p:sp>
        <p:nvSpPr>
          <p:cNvPr id="20" name="Text 17"/>
          <p:cNvSpPr txBox="1"/>
          <p:nvPr/>
        </p:nvSpPr>
        <p:spPr>
          <a:xfrm>
            <a:off x="5577840" y="2487168"/>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Zero-balance customers churn less than average</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Customers with balances churn more (24.08%)</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These customers earn well but keep their money elsewhere</a:t>
            </a:r>
            <a:endParaRPr lang="en-US" sz="1050" dirty="0"/>
          </a:p>
        </p:txBody>
      </p:sp>
      <p:sp>
        <p:nvSpPr>
          <p:cNvPr id="21" name="Shape 18"/>
          <p:cNvSpPr/>
          <p:nvPr/>
        </p:nvSpPr>
        <p:spPr>
          <a:xfrm>
            <a:off x="457200" y="3977640"/>
            <a:ext cx="8229600" cy="731520"/>
          </a:xfrm>
          <a:prstGeom prst="rect">
            <a:avLst/>
          </a:prstGeom>
          <a:solidFill>
            <a:srgbClr val="1F3A5F"/>
          </a:solidFill>
          <a:ln/>
        </p:spPr>
      </p:sp>
      <p:sp>
        <p:nvSpPr>
          <p:cNvPr id="22" name="Text 19"/>
          <p:cNvSpPr txBox="1"/>
          <p:nvPr/>
        </p:nvSpPr>
        <p:spPr>
          <a:xfrm>
            <a:off x="594360" y="3977640"/>
            <a:ext cx="7955280" cy="731520"/>
          </a:xfrm>
          <a:prstGeom prst="rect">
            <a:avLst/>
          </a:prstGeom>
          <a:noFill/>
          <a:ln/>
        </p:spPr>
        <p:txBody>
          <a:bodyPr wrap="square" lIns="0" tIns="0" rIns="0" bIns="0" rtlCol="0" anchor="ctr"/>
          <a:lstStyle/>
          <a:p>
            <a:pPr indent="0" marL="0">
              <a:buNone/>
            </a:pPr>
            <a:r>
              <a:rPr lang="en-US" sz="1100" b="1" dirty="0">
                <a:solidFill>
                  <a:srgbClr val="F28C28"/>
                </a:solidFill>
                <a:latin typeface="Calibri" pitchFamily="34" charset="0"/>
                <a:ea typeface="Calibri" pitchFamily="34" charset="-122"/>
                <a:cs typeface="Calibri" pitchFamily="34" charset="-120"/>
              </a:rPr>
              <a:t>Business impact:  </a:t>
            </a:r>
            <a:pPr indent="0" marL="0">
              <a:buNone/>
            </a:pPr>
            <a:r>
              <a:rPr lang="en-US" sz="1100" dirty="0">
                <a:solidFill>
                  <a:srgbClr val="FFFFFF"/>
                </a:solidFill>
                <a:latin typeface="Calibri" pitchFamily="34" charset="0"/>
                <a:ea typeface="Calibri" pitchFamily="34" charset="-122"/>
                <a:cs typeface="Calibri" pitchFamily="34" charset="-120"/>
              </a:rPr>
              <a:t>They are low churn risk but a big untapped opportunity. Converting even some into depositors through cross-sell would grow balances without new acquisition.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Q10: Capital at Risk</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13/15</a:t>
            </a:r>
            <a:endParaRPr lang="en-US" sz="900" dirty="0"/>
          </a:p>
        </p:txBody>
      </p:sp>
      <p:sp>
        <p:nvSpPr>
          <p:cNvPr id="5" name="Text 3"/>
          <p:cNvSpPr txBox="1"/>
          <p:nvPr/>
        </p:nvSpPr>
        <p:spPr>
          <a:xfrm>
            <a:off x="457200" y="786384"/>
            <a:ext cx="8229600" cy="411480"/>
          </a:xfrm>
          <a:prstGeom prst="rect">
            <a:avLst/>
          </a:prstGeom>
          <a:noFill/>
          <a:ln/>
        </p:spPr>
        <p:txBody>
          <a:bodyPr wrap="square" lIns="0" tIns="0" rIns="0" bIns="0" rtlCol="0" anchor="ctr"/>
          <a:lstStyle/>
          <a:p>
            <a:pPr indent="0" marL="0">
              <a:buNone/>
            </a:pPr>
            <a:r>
              <a:rPr lang="en-US" sz="1100" i="1" dirty="0">
                <a:solidFill>
                  <a:srgbClr val="5B6770"/>
                </a:solidFill>
                <a:latin typeface="Calibri" pitchFamily="34" charset="0"/>
                <a:ea typeface="Calibri" pitchFamily="34" charset="-122"/>
                <a:cs typeface="Calibri" pitchFamily="34" charset="-120"/>
              </a:rPr>
              <a:t>Who are the top 20 high-value, multi-product, inactive customers who have not left, and how much capital is at risk?</a:t>
            </a:r>
            <a:endParaRPr lang="en-US" sz="1100" dirty="0"/>
          </a:p>
        </p:txBody>
      </p:sp>
      <p:sp>
        <p:nvSpPr>
          <p:cNvPr id="6" name="Shape 4"/>
          <p:cNvSpPr/>
          <p:nvPr/>
        </p:nvSpPr>
        <p:spPr>
          <a:xfrm>
            <a:off x="457200" y="1261872"/>
            <a:ext cx="2651760" cy="822960"/>
          </a:xfrm>
          <a:prstGeom prst="rect">
            <a:avLst/>
          </a:prstGeom>
          <a:solidFill>
            <a:srgbClr val="F4F6F8"/>
          </a:solidFill>
          <a:ln w="12700">
            <a:solidFill>
              <a:srgbClr val="FFFFFF"/>
            </a:solidFill>
            <a:prstDash val="solid"/>
          </a:ln>
        </p:spPr>
      </p:sp>
      <p:sp>
        <p:nvSpPr>
          <p:cNvPr id="7" name="Shape 5"/>
          <p:cNvSpPr/>
          <p:nvPr/>
        </p:nvSpPr>
        <p:spPr>
          <a:xfrm>
            <a:off x="457200" y="1261872"/>
            <a:ext cx="64008" cy="822960"/>
          </a:xfrm>
          <a:prstGeom prst="rect">
            <a:avLst/>
          </a:prstGeom>
          <a:solidFill>
            <a:srgbClr val="14A3A3"/>
          </a:solidFill>
          <a:ln/>
        </p:spPr>
      </p:sp>
      <p:sp>
        <p:nvSpPr>
          <p:cNvPr id="8" name="Text 6"/>
          <p:cNvSpPr txBox="1"/>
          <p:nvPr/>
        </p:nvSpPr>
        <p:spPr>
          <a:xfrm>
            <a:off x="64008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564</a:t>
            </a:r>
            <a:endParaRPr lang="en-US" sz="2200" dirty="0"/>
          </a:p>
        </p:txBody>
      </p:sp>
      <p:sp>
        <p:nvSpPr>
          <p:cNvPr id="9" name="Text 7"/>
          <p:cNvSpPr txBox="1"/>
          <p:nvPr/>
        </p:nvSpPr>
        <p:spPr>
          <a:xfrm>
            <a:off x="64008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inactive, 2+ products, balance &gt;$100K, retained</a:t>
            </a:r>
            <a:endParaRPr lang="en-US" sz="1050" dirty="0"/>
          </a:p>
        </p:txBody>
      </p:sp>
      <p:sp>
        <p:nvSpPr>
          <p:cNvPr id="10" name="Shape 8"/>
          <p:cNvSpPr/>
          <p:nvPr/>
        </p:nvSpPr>
        <p:spPr>
          <a:xfrm>
            <a:off x="3246120" y="1261872"/>
            <a:ext cx="2651760" cy="822960"/>
          </a:xfrm>
          <a:prstGeom prst="rect">
            <a:avLst/>
          </a:prstGeom>
          <a:solidFill>
            <a:srgbClr val="F4F6F8"/>
          </a:solidFill>
          <a:ln w="12700">
            <a:solidFill>
              <a:srgbClr val="FFFFFF"/>
            </a:solidFill>
            <a:prstDash val="solid"/>
          </a:ln>
        </p:spPr>
      </p:sp>
      <p:sp>
        <p:nvSpPr>
          <p:cNvPr id="11" name="Shape 9"/>
          <p:cNvSpPr/>
          <p:nvPr/>
        </p:nvSpPr>
        <p:spPr>
          <a:xfrm>
            <a:off x="3246120" y="1261872"/>
            <a:ext cx="64008" cy="822960"/>
          </a:xfrm>
          <a:prstGeom prst="rect">
            <a:avLst/>
          </a:prstGeom>
          <a:solidFill>
            <a:srgbClr val="F28C28"/>
          </a:solidFill>
          <a:ln/>
        </p:spPr>
      </p:sp>
      <p:sp>
        <p:nvSpPr>
          <p:cNvPr id="12" name="Text 10"/>
          <p:cNvSpPr txBox="1"/>
          <p:nvPr/>
        </p:nvSpPr>
        <p:spPr>
          <a:xfrm>
            <a:off x="342900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$75.3M</a:t>
            </a:r>
            <a:endParaRPr lang="en-US" sz="2200" dirty="0"/>
          </a:p>
        </p:txBody>
      </p:sp>
      <p:sp>
        <p:nvSpPr>
          <p:cNvPr id="13" name="Text 11"/>
          <p:cNvSpPr txBox="1"/>
          <p:nvPr/>
        </p:nvSpPr>
        <p:spPr>
          <a:xfrm>
            <a:off x="342900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total capital at risk (avg $133.5K each)</a:t>
            </a:r>
            <a:endParaRPr lang="en-US" sz="1050" dirty="0"/>
          </a:p>
        </p:txBody>
      </p:sp>
      <p:sp>
        <p:nvSpPr>
          <p:cNvPr id="14" name="Shape 12"/>
          <p:cNvSpPr/>
          <p:nvPr/>
        </p:nvSpPr>
        <p:spPr>
          <a:xfrm>
            <a:off x="6035040" y="1261872"/>
            <a:ext cx="2651760" cy="822960"/>
          </a:xfrm>
          <a:prstGeom prst="rect">
            <a:avLst/>
          </a:prstGeom>
          <a:solidFill>
            <a:srgbClr val="F4F6F8"/>
          </a:solidFill>
          <a:ln w="12700">
            <a:solidFill>
              <a:srgbClr val="FFFFFF"/>
            </a:solidFill>
            <a:prstDash val="solid"/>
          </a:ln>
        </p:spPr>
      </p:sp>
      <p:sp>
        <p:nvSpPr>
          <p:cNvPr id="15" name="Shape 13"/>
          <p:cNvSpPr/>
          <p:nvPr/>
        </p:nvSpPr>
        <p:spPr>
          <a:xfrm>
            <a:off x="6035040" y="1261872"/>
            <a:ext cx="64008" cy="822960"/>
          </a:xfrm>
          <a:prstGeom prst="rect">
            <a:avLst/>
          </a:prstGeom>
          <a:solidFill>
            <a:srgbClr val="14A3A3"/>
          </a:solidFill>
          <a:ln/>
        </p:spPr>
      </p:sp>
      <p:sp>
        <p:nvSpPr>
          <p:cNvPr id="16" name="Text 14"/>
          <p:cNvSpPr txBox="1"/>
          <p:nvPr/>
        </p:nvSpPr>
        <p:spPr>
          <a:xfrm>
            <a:off x="6217920" y="1335024"/>
            <a:ext cx="2377440" cy="411480"/>
          </a:xfrm>
          <a:prstGeom prst="rect">
            <a:avLst/>
          </a:prstGeom>
          <a:noFill/>
          <a:ln/>
        </p:spPr>
        <p:txBody>
          <a:bodyPr wrap="square" lIns="0" tIns="0" rIns="0" bIns="0" rtlCol="0" anchor="ctr"/>
          <a:lstStyle/>
          <a:p>
            <a:pPr indent="0" marL="0">
              <a:buNone/>
            </a:pPr>
            <a:r>
              <a:rPr lang="en-US" sz="2200" b="1" dirty="0">
                <a:solidFill>
                  <a:srgbClr val="1F3A5F"/>
                </a:solidFill>
                <a:latin typeface="Calibri" pitchFamily="34" charset="0"/>
                <a:ea typeface="Calibri" pitchFamily="34" charset="-122"/>
                <a:cs typeface="Calibri" pitchFamily="34" charset="-120"/>
              </a:rPr>
              <a:t>$3.82M</a:t>
            </a:r>
            <a:endParaRPr lang="en-US" sz="2200" dirty="0"/>
          </a:p>
        </p:txBody>
      </p:sp>
      <p:sp>
        <p:nvSpPr>
          <p:cNvPr id="17" name="Text 15"/>
          <p:cNvSpPr txBox="1"/>
          <p:nvPr/>
        </p:nvSpPr>
        <p:spPr>
          <a:xfrm>
            <a:off x="6217920" y="1714500"/>
            <a:ext cx="2377440" cy="329184"/>
          </a:xfrm>
          <a:prstGeom prst="rect">
            <a:avLst/>
          </a:prstGeom>
          <a:noFill/>
          <a:ln/>
        </p:spPr>
        <p:txBody>
          <a:bodyPr wrap="square" lIns="0" tIns="0" rIns="0" bIns="0" rtlCol="0" anchor="t"/>
          <a:lstStyle/>
          <a:p>
            <a:pPr indent="0" marL="0">
              <a:buNone/>
            </a:pPr>
            <a:r>
              <a:rPr lang="en-US" sz="1050" dirty="0">
                <a:solidFill>
                  <a:srgbClr val="5B6770"/>
                </a:solidFill>
                <a:latin typeface="Calibri" pitchFamily="34" charset="0"/>
                <a:ea typeface="Calibri" pitchFamily="34" charset="-122"/>
                <a:cs typeface="Calibri" pitchFamily="34" charset="-120"/>
              </a:rPr>
              <a:t>held by the top 20 alone</a:t>
            </a:r>
            <a:endParaRPr lang="en-US" sz="1050" dirty="0"/>
          </a:p>
        </p:txBody>
      </p:sp>
      <p:graphicFrame>
        <p:nvGraphicFramePr>
          <p:cNvPr id="18" name="Chart 0" descr=""/>
          <p:cNvGraphicFramePr/>
          <p:nvPr/>
        </p:nvGraphicFramePr>
        <p:xfrm>
          <a:off x="457200" y="2194560"/>
          <a:ext cx="4937760" cy="17373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577840" y="2194560"/>
            <a:ext cx="31089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the data shows</a:t>
            </a:r>
            <a:endParaRPr lang="en-US" sz="1400" dirty="0"/>
          </a:p>
        </p:txBody>
      </p:sp>
      <p:sp>
        <p:nvSpPr>
          <p:cNvPr id="20" name="Text 17"/>
          <p:cNvSpPr txBox="1"/>
          <p:nvPr/>
        </p:nvSpPr>
        <p:spPr>
          <a:xfrm>
            <a:off x="5577840" y="2487168"/>
            <a:ext cx="3108960" cy="14173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Germany has 285 of the 564 at-risk customers</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12 of the top 20 are in Germany</a:t>
            </a:r>
            <a:endParaRPr lang="en-US" sz="1050" dirty="0"/>
          </a:p>
          <a:p>
            <a:pPr marL="342900" indent="-342900">
              <a:spcAft>
                <a:spcPts val="500"/>
              </a:spcAft>
              <a:buSzPct val="100000"/>
              <a:buChar char="•"/>
            </a:pPr>
            <a:r>
              <a:rPr lang="en-US" sz="1050" dirty="0">
                <a:solidFill>
                  <a:srgbClr val="2B2B2B"/>
                </a:solidFill>
                <a:latin typeface="Calibri" pitchFamily="34" charset="0"/>
                <a:ea typeface="Calibri" pitchFamily="34" charset="-122"/>
                <a:cs typeface="Calibri" pitchFamily="34" charset="-120"/>
              </a:rPr>
              <a:t>Given Q1, Q3 and Q4, this is the likeliest next wave of churn</a:t>
            </a:r>
            <a:endParaRPr lang="en-US" sz="1050" dirty="0"/>
          </a:p>
        </p:txBody>
      </p:sp>
      <p:sp>
        <p:nvSpPr>
          <p:cNvPr id="21" name="Shape 18"/>
          <p:cNvSpPr/>
          <p:nvPr/>
        </p:nvSpPr>
        <p:spPr>
          <a:xfrm>
            <a:off x="457200" y="3977640"/>
            <a:ext cx="8229600" cy="731520"/>
          </a:xfrm>
          <a:prstGeom prst="rect">
            <a:avLst/>
          </a:prstGeom>
          <a:solidFill>
            <a:srgbClr val="1F3A5F"/>
          </a:solidFill>
          <a:ln/>
        </p:spPr>
      </p:sp>
      <p:sp>
        <p:nvSpPr>
          <p:cNvPr id="22" name="Text 19"/>
          <p:cNvSpPr txBox="1"/>
          <p:nvPr/>
        </p:nvSpPr>
        <p:spPr>
          <a:xfrm>
            <a:off x="594360" y="3977640"/>
            <a:ext cx="7955280" cy="731520"/>
          </a:xfrm>
          <a:prstGeom prst="rect">
            <a:avLst/>
          </a:prstGeom>
          <a:noFill/>
          <a:ln/>
        </p:spPr>
        <p:txBody>
          <a:bodyPr wrap="square" lIns="0" tIns="0" rIns="0" bIns="0" rtlCol="0" anchor="ctr"/>
          <a:lstStyle/>
          <a:p>
            <a:pPr indent="0" marL="0">
              <a:buNone/>
            </a:pPr>
            <a:r>
              <a:rPr lang="en-US" sz="1100" b="1" dirty="0">
                <a:solidFill>
                  <a:srgbClr val="F28C28"/>
                </a:solidFill>
                <a:latin typeface="Calibri" pitchFamily="34" charset="0"/>
                <a:ea typeface="Calibri" pitchFamily="34" charset="-122"/>
                <a:cs typeface="Calibri" pitchFamily="34" charset="-120"/>
              </a:rPr>
              <a:t>Business impact:  </a:t>
            </a:r>
            <a:pPr indent="0" marL="0">
              <a:buNone/>
            </a:pPr>
            <a:r>
              <a:rPr lang="en-US" sz="1100" dirty="0">
                <a:solidFill>
                  <a:srgbClr val="FFFFFF"/>
                </a:solidFill>
                <a:latin typeface="Calibri" pitchFamily="34" charset="0"/>
                <a:ea typeface="Calibri" pitchFamily="34" charset="-122"/>
                <a:cs typeface="Calibri" pitchFamily="34" charset="-120"/>
              </a:rPr>
              <a:t>This is the priority call list: $75.3M can still be saved. Relationship-manager outreach to the top 20 alone protects $3.82M.</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Key Insights &amp; Recommendations</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14/15</a:t>
            </a:r>
            <a:endParaRPr lang="en-US" sz="900" dirty="0"/>
          </a:p>
        </p:txBody>
      </p:sp>
      <p:sp>
        <p:nvSpPr>
          <p:cNvPr id="5" name="Shape 3"/>
          <p:cNvSpPr/>
          <p:nvPr/>
        </p:nvSpPr>
        <p:spPr>
          <a:xfrm>
            <a:off x="457200" y="914400"/>
            <a:ext cx="8229600" cy="676656"/>
          </a:xfrm>
          <a:prstGeom prst="rect">
            <a:avLst/>
          </a:prstGeom>
          <a:solidFill>
            <a:srgbClr val="F4F6F8"/>
          </a:solidFill>
          <a:ln/>
        </p:spPr>
      </p:sp>
      <p:sp>
        <p:nvSpPr>
          <p:cNvPr id="6" name="Shape 4"/>
          <p:cNvSpPr/>
          <p:nvPr/>
        </p:nvSpPr>
        <p:spPr>
          <a:xfrm>
            <a:off x="457200" y="914400"/>
            <a:ext cx="64008" cy="676656"/>
          </a:xfrm>
          <a:prstGeom prst="rect">
            <a:avLst/>
          </a:prstGeom>
          <a:solidFill>
            <a:srgbClr val="14A3A3"/>
          </a:solidFill>
          <a:ln/>
        </p:spPr>
      </p:sp>
      <p:sp>
        <p:nvSpPr>
          <p:cNvPr id="7" name="Text 5"/>
          <p:cNvSpPr txBox="1"/>
          <p:nvPr/>
        </p:nvSpPr>
        <p:spPr>
          <a:xfrm>
            <a:off x="685800" y="914400"/>
            <a:ext cx="2194560" cy="67665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Fix product bundling</a:t>
            </a:r>
            <a:endParaRPr lang="en-US" sz="1300" dirty="0"/>
          </a:p>
        </p:txBody>
      </p:sp>
      <p:sp>
        <p:nvSpPr>
          <p:cNvPr id="8" name="Text 6"/>
          <p:cNvSpPr txBox="1"/>
          <p:nvPr/>
        </p:nvSpPr>
        <p:spPr>
          <a:xfrm>
            <a:off x="2926080" y="914400"/>
            <a:ext cx="5669280" cy="676656"/>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3-4 product holders almost all churn. Aim for 2 products and review 3-4 product bundles.</a:t>
            </a:r>
            <a:endParaRPr lang="en-US" sz="1150" dirty="0"/>
          </a:p>
        </p:txBody>
      </p:sp>
      <p:sp>
        <p:nvSpPr>
          <p:cNvPr id="9" name="Shape 7"/>
          <p:cNvSpPr/>
          <p:nvPr/>
        </p:nvSpPr>
        <p:spPr>
          <a:xfrm>
            <a:off x="457200" y="1682496"/>
            <a:ext cx="8229600" cy="676656"/>
          </a:xfrm>
          <a:prstGeom prst="rect">
            <a:avLst/>
          </a:prstGeom>
          <a:solidFill>
            <a:srgbClr val="F4F6F8"/>
          </a:solidFill>
          <a:ln/>
        </p:spPr>
      </p:sp>
      <p:sp>
        <p:nvSpPr>
          <p:cNvPr id="10" name="Shape 8"/>
          <p:cNvSpPr/>
          <p:nvPr/>
        </p:nvSpPr>
        <p:spPr>
          <a:xfrm>
            <a:off x="457200" y="1682496"/>
            <a:ext cx="64008" cy="676656"/>
          </a:xfrm>
          <a:prstGeom prst="rect">
            <a:avLst/>
          </a:prstGeom>
          <a:solidFill>
            <a:srgbClr val="F28C28"/>
          </a:solidFill>
          <a:ln/>
        </p:spPr>
      </p:sp>
      <p:sp>
        <p:nvSpPr>
          <p:cNvPr id="11" name="Text 9"/>
          <p:cNvSpPr txBox="1"/>
          <p:nvPr/>
        </p:nvSpPr>
        <p:spPr>
          <a:xfrm>
            <a:off x="685800" y="1682496"/>
            <a:ext cx="2194560" cy="67665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Save the $75.3M</a:t>
            </a:r>
            <a:endParaRPr lang="en-US" sz="1300" dirty="0"/>
          </a:p>
        </p:txBody>
      </p:sp>
      <p:sp>
        <p:nvSpPr>
          <p:cNvPr id="12" name="Text 10"/>
          <p:cNvSpPr txBox="1"/>
          <p:nvPr/>
        </p:nvSpPr>
        <p:spPr>
          <a:xfrm>
            <a:off x="2926080" y="1682496"/>
            <a:ext cx="5669280" cy="676656"/>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Call the 564 inactive high-balance customers, starting with the top 20 (Germany first).</a:t>
            </a:r>
            <a:endParaRPr lang="en-US" sz="1150" dirty="0"/>
          </a:p>
        </p:txBody>
      </p:sp>
      <p:sp>
        <p:nvSpPr>
          <p:cNvPr id="13" name="Shape 11"/>
          <p:cNvSpPr/>
          <p:nvPr/>
        </p:nvSpPr>
        <p:spPr>
          <a:xfrm>
            <a:off x="457200" y="2450592"/>
            <a:ext cx="8229600" cy="676656"/>
          </a:xfrm>
          <a:prstGeom prst="rect">
            <a:avLst/>
          </a:prstGeom>
          <a:solidFill>
            <a:srgbClr val="F4F6F8"/>
          </a:solidFill>
          <a:ln/>
        </p:spPr>
      </p:sp>
      <p:sp>
        <p:nvSpPr>
          <p:cNvPr id="14" name="Shape 12"/>
          <p:cNvSpPr/>
          <p:nvPr/>
        </p:nvSpPr>
        <p:spPr>
          <a:xfrm>
            <a:off x="457200" y="2450592"/>
            <a:ext cx="64008" cy="676656"/>
          </a:xfrm>
          <a:prstGeom prst="rect">
            <a:avLst/>
          </a:prstGeom>
          <a:solidFill>
            <a:srgbClr val="14A3A3"/>
          </a:solidFill>
          <a:ln/>
        </p:spPr>
      </p:sp>
      <p:sp>
        <p:nvSpPr>
          <p:cNvPr id="15" name="Text 13"/>
          <p:cNvSpPr txBox="1"/>
          <p:nvPr/>
        </p:nvSpPr>
        <p:spPr>
          <a:xfrm>
            <a:off x="685800" y="2450592"/>
            <a:ext cx="2194560" cy="67665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Target age 51-65</a:t>
            </a:r>
            <a:endParaRPr lang="en-US" sz="1300" dirty="0"/>
          </a:p>
        </p:txBody>
      </p:sp>
      <p:sp>
        <p:nvSpPr>
          <p:cNvPr id="16" name="Text 14"/>
          <p:cNvSpPr txBox="1"/>
          <p:nvPr/>
        </p:nvSpPr>
        <p:spPr>
          <a:xfrm>
            <a:off x="2926080" y="2450592"/>
            <a:ext cx="5669280" cy="676656"/>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This group churns at 53%, 2.6x average. Offer retirement and wealth planning.</a:t>
            </a:r>
            <a:endParaRPr lang="en-US" sz="1150" dirty="0"/>
          </a:p>
        </p:txBody>
      </p:sp>
      <p:sp>
        <p:nvSpPr>
          <p:cNvPr id="17" name="Shape 15"/>
          <p:cNvSpPr/>
          <p:nvPr/>
        </p:nvSpPr>
        <p:spPr>
          <a:xfrm>
            <a:off x="457200" y="3218688"/>
            <a:ext cx="8229600" cy="676656"/>
          </a:xfrm>
          <a:prstGeom prst="rect">
            <a:avLst/>
          </a:prstGeom>
          <a:solidFill>
            <a:srgbClr val="F4F6F8"/>
          </a:solidFill>
          <a:ln/>
        </p:spPr>
      </p:sp>
      <p:sp>
        <p:nvSpPr>
          <p:cNvPr id="18" name="Shape 16"/>
          <p:cNvSpPr/>
          <p:nvPr/>
        </p:nvSpPr>
        <p:spPr>
          <a:xfrm>
            <a:off x="457200" y="3218688"/>
            <a:ext cx="64008" cy="676656"/>
          </a:xfrm>
          <a:prstGeom prst="rect">
            <a:avLst/>
          </a:prstGeom>
          <a:solidFill>
            <a:srgbClr val="F28C28"/>
          </a:solidFill>
          <a:ln/>
        </p:spPr>
      </p:sp>
      <p:sp>
        <p:nvSpPr>
          <p:cNvPr id="19" name="Text 17"/>
          <p:cNvSpPr txBox="1"/>
          <p:nvPr/>
        </p:nvSpPr>
        <p:spPr>
          <a:xfrm>
            <a:off x="685800" y="3218688"/>
            <a:ext cx="2194560" cy="67665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Focus on Germany &amp; women</a:t>
            </a:r>
            <a:endParaRPr lang="en-US" sz="1300" dirty="0"/>
          </a:p>
        </p:txBody>
      </p:sp>
      <p:sp>
        <p:nvSpPr>
          <p:cNvPr id="20" name="Text 18"/>
          <p:cNvSpPr txBox="1"/>
          <p:nvPr/>
        </p:nvSpPr>
        <p:spPr>
          <a:xfrm>
            <a:off x="2926080" y="3218688"/>
            <a:ext cx="5669280" cy="676656"/>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France and Germany women lead churn counts (460, 448). Review Germany service and experience.</a:t>
            </a:r>
            <a:endParaRPr lang="en-US" sz="1150" dirty="0"/>
          </a:p>
        </p:txBody>
      </p:sp>
      <p:sp>
        <p:nvSpPr>
          <p:cNvPr id="21" name="Shape 19"/>
          <p:cNvSpPr/>
          <p:nvPr/>
        </p:nvSpPr>
        <p:spPr>
          <a:xfrm>
            <a:off x="457200" y="3986784"/>
            <a:ext cx="8229600" cy="676656"/>
          </a:xfrm>
          <a:prstGeom prst="rect">
            <a:avLst/>
          </a:prstGeom>
          <a:solidFill>
            <a:srgbClr val="F4F6F8"/>
          </a:solidFill>
          <a:ln/>
        </p:spPr>
      </p:sp>
      <p:sp>
        <p:nvSpPr>
          <p:cNvPr id="22" name="Shape 20"/>
          <p:cNvSpPr/>
          <p:nvPr/>
        </p:nvSpPr>
        <p:spPr>
          <a:xfrm>
            <a:off x="457200" y="3986784"/>
            <a:ext cx="64008" cy="676656"/>
          </a:xfrm>
          <a:prstGeom prst="rect">
            <a:avLst/>
          </a:prstGeom>
          <a:solidFill>
            <a:srgbClr val="14A3A3"/>
          </a:solidFill>
          <a:ln/>
        </p:spPr>
      </p:sp>
      <p:sp>
        <p:nvSpPr>
          <p:cNvPr id="23" name="Text 21"/>
          <p:cNvSpPr txBox="1"/>
          <p:nvPr/>
        </p:nvSpPr>
        <p:spPr>
          <a:xfrm>
            <a:off x="685800" y="3986784"/>
            <a:ext cx="2194560" cy="676656"/>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Reward activity, not cards</a:t>
            </a:r>
            <a:endParaRPr lang="en-US" sz="1300" dirty="0"/>
          </a:p>
        </p:txBody>
      </p:sp>
      <p:sp>
        <p:nvSpPr>
          <p:cNvPr id="24" name="Text 22"/>
          <p:cNvSpPr txBox="1"/>
          <p:nvPr/>
        </p:nvSpPr>
        <p:spPr>
          <a:xfrm>
            <a:off x="2926080" y="3986784"/>
            <a:ext cx="5669280" cy="676656"/>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Cards do not raise activity. Tie loyalty offers to activity, and grow zero-balance high earners.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3A5F"/>
          </a:solidFill>
          <a:ln/>
        </p:spPr>
      </p:sp>
      <p:sp>
        <p:nvSpPr>
          <p:cNvPr id="3" name="Text 1"/>
          <p:cNvSpPr txBox="1"/>
          <p:nvPr/>
        </p:nvSpPr>
        <p:spPr>
          <a:xfrm>
            <a:off x="457200" y="91440"/>
            <a:ext cx="8229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Assumptions &amp; Challenges</a:t>
            </a:r>
            <a:endParaRPr lang="en-US" sz="22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Bank Churn Analysis | 15/15</a:t>
            </a:r>
            <a:endParaRPr lang="en-US" sz="900" dirty="0"/>
          </a:p>
        </p:txBody>
      </p:sp>
      <p:sp>
        <p:nvSpPr>
          <p:cNvPr id="5" name="Text 3"/>
          <p:cNvSpPr txBox="1"/>
          <p:nvPr/>
        </p:nvSpPr>
        <p:spPr>
          <a:xfrm>
            <a:off x="457200" y="914400"/>
            <a:ext cx="393192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Assumptions</a:t>
            </a:r>
            <a:endParaRPr lang="en-US" sz="1400" dirty="0"/>
          </a:p>
        </p:txBody>
      </p:sp>
      <p:sp>
        <p:nvSpPr>
          <p:cNvPr id="6" name="Text 4"/>
          <p:cNvSpPr txBox="1"/>
          <p:nvPr/>
        </p:nvSpPr>
        <p:spPr>
          <a:xfrm>
            <a:off x="457200" y="1234440"/>
            <a:ext cx="3931920" cy="33832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Data is a clean, representative snapshot with no nulls</a:t>
            </a:r>
            <a:endParaRPr lang="en-US" sz="1150" dirty="0"/>
          </a:p>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Exited = 1 means the customer has permanently left</a:t>
            </a:r>
            <a:endParaRPr lang="en-US" sz="1150" dirty="0"/>
          </a:p>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High value = balance above $100,000; high earner = salary above $100,000</a:t>
            </a:r>
            <a:endParaRPr lang="en-US" sz="1150" dirty="0"/>
          </a:p>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Credit tiers follow standard FICO bands</a:t>
            </a:r>
            <a:endParaRPr lang="en-US" sz="1150" dirty="0"/>
          </a:p>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Age groups: &lt;30, 30-50, 51-65, &gt;65</a:t>
            </a:r>
            <a:endParaRPr lang="en-US" sz="1150" dirty="0"/>
          </a:p>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Amounts treated as one currency</a:t>
            </a:r>
            <a:endParaRPr lang="en-US" sz="1150" dirty="0"/>
          </a:p>
        </p:txBody>
      </p:sp>
      <p:sp>
        <p:nvSpPr>
          <p:cNvPr id="7" name="Text 5"/>
          <p:cNvSpPr txBox="1"/>
          <p:nvPr/>
        </p:nvSpPr>
        <p:spPr>
          <a:xfrm>
            <a:off x="4754880" y="914400"/>
            <a:ext cx="3931920" cy="274320"/>
          </a:xfrm>
          <a:prstGeom prst="rect">
            <a:avLst/>
          </a:prstGeom>
          <a:noFill/>
          <a:ln/>
        </p:spPr>
        <p:txBody>
          <a:bodyPr wrap="square" lIns="0" tIns="0" rIns="0" bIns="0" rtlCol="0" anchor="ctr"/>
          <a:lstStyle/>
          <a:p>
            <a:pPr indent="0" marL="0">
              <a:buNone/>
            </a:pPr>
            <a:r>
              <a:rPr lang="en-US" sz="1400" b="1" dirty="0">
                <a:solidFill>
                  <a:srgbClr val="F28C28"/>
                </a:solidFill>
                <a:latin typeface="Calibri" pitchFamily="34" charset="0"/>
                <a:ea typeface="Calibri" pitchFamily="34" charset="-122"/>
                <a:cs typeface="Calibri" pitchFamily="34" charset="-120"/>
              </a:rPr>
              <a:t>Challenges Faced</a:t>
            </a:r>
            <a:endParaRPr lang="en-US" sz="1400" dirty="0"/>
          </a:p>
        </p:txBody>
      </p:sp>
      <p:sp>
        <p:nvSpPr>
          <p:cNvPr id="8" name="Text 6"/>
          <p:cNvSpPr txBox="1"/>
          <p:nvPr/>
        </p:nvSpPr>
        <p:spPr>
          <a:xfrm>
            <a:off x="4754880" y="1234440"/>
            <a:ext cx="3931920" cy="33832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T-SQL AVG() on INT columns truncates decimals; fixed with CAST to FLOAT</a:t>
            </a:r>
            <a:endParaRPr lang="en-US" sz="1150" dirty="0"/>
          </a:p>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Churn rate needed COUNT(CASE WHEN), not filtering out the target</a:t>
            </a:r>
            <a:endParaRPr lang="en-US" sz="1150" dirty="0"/>
          </a:p>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Q10 needed total capital beyond TOP 20; solved with SUM() OVER()</a:t>
            </a:r>
            <a:endParaRPr lang="en-US" sz="1150" dirty="0"/>
          </a:p>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Many zero-balance accounts skew averages, so they were segmented separately</a:t>
            </a:r>
            <a:endParaRPr lang="en-US" sz="1150" dirty="0"/>
          </a:p>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Correlation is not causation: drivers need further modelling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Customer Churn Analysis</dc:title>
  <dc:subject>PptxGenJS Presentation</dc:subject>
  <dc:creator>PptxGenJS</dc:creator>
  <cp:lastModifiedBy>PptxGenJS</cp:lastModifiedBy>
  <cp:revision>1</cp:revision>
  <dcterms:created xsi:type="dcterms:W3CDTF">2026-10-07T09:59:44Z</dcterms:created>
  <dcterms:modified xsi:type="dcterms:W3CDTF">2026-10-07T09:59:44Z</dcterms:modified>
</cp:coreProperties>
</file>